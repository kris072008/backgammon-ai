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71" r:id="rId22"/>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D6A64"/>
                </a:solidFill>
                <a:latin typeface="Arial"/>
              </a:defRPr>
            </a:pPr>
            <a:r>
              <a:rPr sz="1300" b="0" i="0" u="none" strike="noStrike">
                <a:solidFill>
                  <a:srgbClr val="5D6A64"/>
                </a:solidFill>
                <a:latin typeface="Arial"/>
              </a:rPr>
              <a:t>Hard AI: expected value of each candidate (all 21 opponent rolls)</a:t>
            </a:r>
          </a:p>
        </c:rich>
      </c:tx>
      <c:layout/>
      <c:overlay val="0"/>
    </c:title>
    <c:autoTitleDeleted val="0"/>
    <c:plotArea>
      <c:layout/>
      <c:barChart>
        <c:barDir val="bar"/>
        <c:grouping val="clustered"/>
        <c:varyColors val="0"/>
        <c:ser>
          <c:idx val="0"/>
          <c:order val="0"/>
          <c:tx>
            <c:strRef>
              <c:f>Sheet1!$B$1</c:f>
              <c:strCache>
                <c:ptCount val="1"/>
                <c:pt idx="0">
                  <c:v>Expected value</c:v>
                </c:pt>
              </c:strCache>
            </c:strRef>
          </c:tx>
          <c:spPr>
            <a:solidFill>
              <a:srgbClr val="D9A13B"/>
            </a:solidFill>
            <a:effectLst/>
          </c:spPr>
          <c:invertIfNegative val="0"/>
          <c:dLbls>
            <c:numFmt formatCode="0.0" sourceLinked="0"/>
            <c:txPr>
              <a:bodyPr/>
              <a:lstStyle/>
              <a:p>
                <a:pPr>
                  <a:defRPr b="0" i="0" strike="noStrike" sz="1200" u="none">
                    <a:solidFill>
                      <a:srgbClr val="1D2521"/>
                    </a:solidFill>
                    <a:latin typeface="Arial"/>
                  </a:defRPr>
                </a:pPr>
              </a:p>
            </c:txPr>
            <c:showLegendKey val="0"/>
            <c:showVal val="1"/>
            <c:showCatName val="0"/>
            <c:showSerName val="0"/>
            <c:showPercent val="0"/>
            <c:showBubbleSize val="0"/>
            <c:showLeaderLines val="0"/>
          </c:dLbls>
          <c:dPt>
            <c:idx val="0"/>
            <c:invertIfNegative val="0"/>
            <c:bubble3D val="0"/>
            <c:spPr>
              <a:solidFill>
                <a:srgbClr val="D9A13B"/>
              </a:solidFill>
              <a:effectLst/>
            </c:spPr>
          </c:dPt>
          <c:dPt>
            <c:idx val="1"/>
            <c:invertIfNegative val="0"/>
            <c:bubble3D val="0"/>
            <c:spPr>
              <a:solidFill>
                <a:srgbClr val="B5B1A9"/>
              </a:solidFill>
              <a:effectLst/>
            </c:spPr>
          </c:dPt>
          <c:dPt>
            <c:idx val="2"/>
            <c:invertIfNegative val="0"/>
            <c:bubble3D val="0"/>
            <c:spPr>
              <a:solidFill>
                <a:srgbClr val="B5B1A9"/>
              </a:solidFill>
              <a:effectLst/>
            </c:spPr>
          </c:dPt>
          <c:dPt>
            <c:idx val="3"/>
            <c:invertIfNegative val="0"/>
            <c:bubble3D val="0"/>
            <c:spPr>
              <a:solidFill>
                <a:srgbClr val="B5B1A9"/>
              </a:solidFill>
              <a:effectLst/>
            </c:spPr>
          </c:dPt>
          <c:dPt>
            <c:idx val="4"/>
            <c:invertIfNegative val="0"/>
            <c:bubble3D val="0"/>
            <c:spPr>
              <a:solidFill>
                <a:srgbClr val="B5B1A9"/>
              </a:solidFill>
              <a:effectLst/>
            </c:spPr>
          </c:dPt>
          <c:dPt>
            <c:idx val="5"/>
            <c:invertIfNegative val="0"/>
            <c:bubble3D val="0"/>
            <c:spPr>
              <a:solidFill>
                <a:srgbClr val="B5B1A9"/>
              </a:solidFill>
              <a:effectLst/>
            </c:spPr>
          </c:dPt>
          <c:cat>
            <c:multiLvlStrRef>
              <c:f>Sheet1!$A$2:$A$7</c:f>
              <c:multiLvlStrCache>
                <c:ptCount val="6"/>
                <c:lvl>
                  <c:pt idx="0">
                    <c:v>8/3 6/3</c:v>
                  </c:pt>
                  <c:pt idx="1">
                    <c:v>13/8 13/10</c:v>
                  </c:pt>
                  <c:pt idx="2">
                    <c:v>13/8 6/3</c:v>
                  </c:pt>
                  <c:pt idx="3">
                    <c:v>13/8 8/5</c:v>
                  </c:pt>
                  <c:pt idx="4">
                    <c:v>13/8 24/21</c:v>
                  </c:pt>
                  <c:pt idx="5">
                    <c:v>8/3 13/10</c:v>
                  </c:pt>
                </c:lvl>
              </c:multiLvlStrCache>
            </c:multiLvlStrRef>
          </c:cat>
          <c:val>
            <c:numRef>
              <c:f>Sheet1!$B$2:$B$7</c:f>
              <c:numCache>
                <c:formatCode>General</c:formatCode>
                <c:ptCount val="6"/>
                <c:pt idx="0">
                  <c:v>15.83</c:v>
                </c:pt>
                <c:pt idx="1">
                  <c:v>4.19</c:v>
                </c:pt>
                <c:pt idx="2">
                  <c:v>-1.83</c:v>
                </c:pt>
                <c:pt idx="3">
                  <c:v>-3.17</c:v>
                </c:pt>
                <c:pt idx="4">
                  <c:v>-7.72</c:v>
                </c:pt>
                <c:pt idx="5">
                  <c:v>-8.47</c:v>
                </c:pt>
              </c:numCache>
            </c:numRef>
          </c:val>
        </c:ser>
        <c:dLbls>
          <c:numFmt formatCode="0.0" sourceLinked="0"/>
          <c:txPr>
            <a:bodyPr/>
            <a:lstStyle/>
            <a:p>
              <a:pPr>
                <a:defRPr b="0" i="0" strike="noStrike" sz="1200" u="none">
                  <a:solidFill>
                    <a:srgbClr val="1D252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D2521"/>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DCC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D6A64"/>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D6A64"/>
                </a:solidFill>
                <a:latin typeface="Arial"/>
              </a:defRPr>
            </a:pPr>
            <a:r>
              <a:rPr sz="1300" b="0" i="0" u="none" strike="noStrike">
                <a:solidFill>
                  <a:srgbClr val="5D6A64"/>
                </a:solidFill>
                <a:latin typeface="Arial"/>
              </a:rPr>
              <a:t>Win rate of the stronger AI (games played)</a:t>
            </a:r>
          </a:p>
        </c:rich>
      </c:tx>
      <c:layout/>
      <c:overlay val="0"/>
    </c:title>
    <c:autoTitleDeleted val="0"/>
    <c:plotArea>
      <c:layout/>
      <c:barChart>
        <c:barDir val="col"/>
        <c:grouping val="clustered"/>
        <c:varyColors val="0"/>
        <c:ser>
          <c:idx val="0"/>
          <c:order val="0"/>
          <c:tx>
            <c:strRef>
              <c:f>Sheet1!$B$1</c:f>
              <c:strCache>
                <c:ptCount val="1"/>
                <c:pt idx="0">
                  <c:v>Win rate</c:v>
                </c:pt>
              </c:strCache>
            </c:strRef>
          </c:tx>
          <c:spPr>
            <a:solidFill>
              <a:srgbClr val="D9A13B"/>
            </a:solidFill>
            <a:effectLst/>
          </c:spPr>
          <c:invertIfNegative val="0"/>
          <c:dLbls>
            <c:numFmt formatCode="0.#&quot;%&quot;" sourceLinked="0"/>
            <c:txPr>
              <a:bodyPr/>
              <a:lstStyle/>
              <a:p>
                <a:pPr>
                  <a:defRPr b="0" i="0" strike="noStrike" sz="1300" u="none">
                    <a:solidFill>
                      <a:srgbClr val="1D2521"/>
                    </a:solidFill>
                    <a:latin typeface="Arial"/>
                  </a:defRPr>
                </a:pPr>
              </a:p>
            </c:txPr>
            <c:showLegendKey val="0"/>
            <c:showVal val="1"/>
            <c:showCatName val="0"/>
            <c:showSerName val="0"/>
            <c:showPercent val="0"/>
            <c:showBubbleSize val="0"/>
            <c:showLeaderLines val="0"/>
          </c:dLbls>
          <c:dPt>
            <c:idx val="0"/>
            <c:invertIfNegative val="0"/>
            <c:bubble3D val="0"/>
            <c:spPr>
              <a:solidFill>
                <a:srgbClr val="D9A13B"/>
              </a:solidFill>
              <a:effectLst/>
            </c:spPr>
          </c:dPt>
          <c:dPt>
            <c:idx val="1"/>
            <c:invertIfNegative val="0"/>
            <c:bubble3D val="0"/>
            <c:spPr>
              <a:solidFill>
                <a:srgbClr val="B5443D"/>
              </a:solidFill>
              <a:effectLst/>
            </c:spPr>
          </c:dPt>
          <c:dPt>
            <c:idx val="2"/>
            <c:invertIfNegative val="0"/>
            <c:bubble3D val="0"/>
            <c:spPr>
              <a:solidFill>
                <a:srgbClr val="B5443D"/>
              </a:solidFill>
              <a:effectLst/>
            </c:spPr>
          </c:dPt>
          <c:cat>
            <c:multiLvlStrRef>
              <c:f>Sheet1!$A$2:$A$4</c:f>
              <c:multiLvlStrCache>
                <c:ptCount val="3"/>
                <c:lvl>
                  <c:pt idx="0">
                    <c:v>Medium vs Easy (100)</c:v>
                  </c:pt>
                  <c:pt idx="1">
                    <c:v>Hard vs Easy (50)</c:v>
                  </c:pt>
                  <c:pt idx="2">
                    <c:v>Hard vs Medium (200)</c:v>
                  </c:pt>
                </c:lvl>
              </c:multiLvlStrCache>
            </c:multiLvlStrRef>
          </c:cat>
          <c:val>
            <c:numRef>
              <c:f>Sheet1!$B$2:$B$4</c:f>
              <c:numCache>
                <c:formatCode>General</c:formatCode>
                <c:ptCount val="3"/>
                <c:pt idx="0">
                  <c:v>100</c:v>
                </c:pt>
                <c:pt idx="1">
                  <c:v>100</c:v>
                </c:pt>
                <c:pt idx="2">
                  <c:v>55.5</c:v>
                </c:pt>
              </c:numCache>
            </c:numRef>
          </c:val>
        </c:ser>
        <c:dLbls>
          <c:numFmt formatCode="0.#&quot;%&quot;" sourceLinked="0"/>
          <c:txPr>
            <a:bodyPr/>
            <a:lstStyle/>
            <a:p>
              <a:pPr>
                <a:defRPr b="0" i="0" strike="noStrike" sz="1300" u="none">
                  <a:solidFill>
                    <a:srgbClr val="1D252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D2521"/>
                </a:solidFill>
                <a:latin typeface="Arial"/>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6350" cap="flat">
              <a:solidFill>
                <a:srgbClr val="E2DCC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D6A64"/>
                </a:solidFill>
                <a:latin typeface="Arial"/>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Introduce yourself and the project: a full game of backgammon where you play against an AI that reasons about dice. Mention the game is live online at the link and that you will demo it in a few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Read the key line of the brief. Stress the two words chance and all consequences, because they drive every design decision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Explain that in chess you can plan against a fixed set of replies, but in backgammon the roll changes what is legal. That is why the textbook answer is Expectiminimax. Full rules are implemented: hitting, the bar, bearing off, doubles played four times, must use both dice, larger die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The board is a list of 24 integers: positive for White, negative for Black. Keeping rules, AI and interface separate meant each could be tested alone, for example running hundreds of random games to test the rules before any AI existed.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Walk the tree top to bottom. The AI tries each of its turns. For each, it considers every one of the 21 rolls the opponent could get, weighted 1 in 36 for doubles and 2 in 36 otherwise, and assumes the opponent plays the reply that is worst for the AI. At depth 2 the positions are scored by the evaluation function. To stay fast, a beam keeps only the six most promising turns at each decision. Next slide shows a real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Click to play the video. The AI rolls 5-3 at the start of the game. Each move leads to a chance node, because the opponent's dice are unknown. For each roll the opponent plays its best reply. Chance nodes average over all 21 rolls. MAX takes the best average. These are real values from my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At the bottom of the tree, positions are scored with these hand-set weights. They are constants at the top of ai.py, so they are easy to tune. A win or loss scores plus or minus 10,000 so the AI always prefers a certain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These are the real expected values my Hard AI computes for the opening 5-3. It picks 8/3 6/3 with 15.8, far ahead of the rest, because the chance node judges each move over every roll, not one lucky or unlucky one. It is also the move expert players make, which suggests the evaluation weights are sensible.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Show that the finished screen follows the wireframe. The player can never make an illegal move, because only legal targets are highlighted. Undo takes back the current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2 minutes. Open the itch.io link (have it loaded in a tab beforehand). Choose Hard, roll, show the gold and green highlights, make a move, then let the AI reply and point out the blue ring. If time allows, leave a blot to show the AI hitting it. Backup plan if the Wi-Fi fails: run python3 main.py locally. Also press H to show a hint, and after the AI moves point at the side panel listing its top three moves and scores. Sound is on: the dice rattle when rolled.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Any evaluation function crushes random play. Hard beats Medium by a smaller margin: I ran it twice, 52% and 59%, which shows how much luck there is in 100 games; combined it is 111 of 200. Dice randomness limits how much deeper search helps, and both share the same evaluation function. Colours were swapped halfway through every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Each extra candidate move costs another 21 rolls of opponent replies. This is the classic trade-off between search effort and playing strength.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Pick one story to tell properly, for example the blank screen: the debug console showed pygame had no init, because pygbag only loads libraries imported in main.py.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Sum up: the brief asked for a chance game whose AI evaluates all consequences, and the Hard AI does exactly that, even finding the expert opening move on its own. The biggest improvement would be learning the evaluation weights instead of setting them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invite questions. Likely ones: why not plain Minimax (dice change which moves exist), why Hard only wins about 55% against Medium (dice randomness and shared evaluation), how the beam works (keeps the top six turns by evaluation), why 8/3 6/3 (no blots, best average over all rolls).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seconds. Since the first version I added two features that make the Expectiminimax search visible. Press Hint or H and the Hard AI searches your own roll and draws its best move as numbered arrows. After every Medium or Hard turn, the side panel lists the AI's top three moves with their scores, how many turns it searched and how long it took. The panel re-runs the same search as ai.py, and I checked it picks exactly the same move in 149 test positions. Two more features: the bar at the top is the estimated win chance. It is my evaluation function passed through a logistic curve fitted on 300 simulated games, and it is well calibrated: positions it rated 70 to 80 percent were won 76 percent of the time. And after each of your turns, the Hard AI grades your move, from Best to Blunder, by how many evaluation points it gave up.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kris072008.itch.io/backgammon-ai" TargetMode="External"/><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video" Target="../media/media-6-1.mp4"/><Relationship Id="rId2" Type="http://schemas.microsoft.com/office/2007/relationships/media" Target="../media/media-6-1.mp4"/><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6.xml"/><Relationship Id="rId5" Type="http://schemas.openxmlformats.org/officeDocument/2006/relationships/image" Target="../media/image3.png"/><Relationship Id="rId6"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hyperlink" Target="https://kris072008.itch.io/backgammon-ai"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hyperlink" Target="https://kris072008.itch.io/backgammon-ai" TargetMode="Externa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2A"/>
        </a:solidFill>
      </p:bgPr>
    </p:bg>
    <p:spTree>
      <p:nvGrpSpPr>
        <p:cNvPr id="1" name=""/>
        <p:cNvGrpSpPr/>
        <p:nvPr/>
      </p:nvGrpSpPr>
      <p:grpSpPr>
        <a:xfrm>
          <a:off x="0" y="0"/>
          <a:ext cx="0" cy="0"/>
          <a:chOff x="0" y="0"/>
          <a:chExt cx="0" cy="0"/>
        </a:xfrm>
      </p:grpSpPr>
      <p:sp>
        <p:nvSpPr>
          <p:cNvPr id="2" name="Text 0"/>
          <p:cNvSpPr txBox="1"/>
          <p:nvPr/>
        </p:nvSpPr>
        <p:spPr>
          <a:xfrm>
            <a:off x="640080" y="1463040"/>
            <a:ext cx="5486400" cy="274320"/>
          </a:xfrm>
          <a:prstGeom prst="rect">
            <a:avLst/>
          </a:prstGeom>
          <a:noFill/>
          <a:ln/>
        </p:spPr>
        <p:txBody>
          <a:bodyPr wrap="square" lIns="0" tIns="0" rIns="0" bIns="0" rtlCol="0" anchor="ctr"/>
          <a:lstStyle/>
          <a:p>
            <a:pPr indent="0" marL="0">
              <a:buNone/>
            </a:pPr>
            <a:r>
              <a:rPr lang="en-US" sz="1050" b="1" spc="100" kern="0" dirty="0">
                <a:solidFill>
                  <a:srgbClr val="D9A13B"/>
                </a:solidFill>
                <a:latin typeface="Inter" pitchFamily="34" charset="0"/>
                <a:ea typeface="Inter" pitchFamily="34" charset="-122"/>
                <a:cs typeface="Inter" pitchFamily="34" charset="-120"/>
              </a:rPr>
              <a:t>5ENT1140 ARTIFICIAL INTELLIGENCE PRINCIPLES · MINI PROJECT</a:t>
            </a:r>
            <a:endParaRPr lang="en-US" sz="1050" dirty="0"/>
          </a:p>
        </p:txBody>
      </p:sp>
      <p:sp>
        <p:nvSpPr>
          <p:cNvPr id="3" name="Text 1"/>
          <p:cNvSpPr txBox="1"/>
          <p:nvPr/>
        </p:nvSpPr>
        <p:spPr>
          <a:xfrm>
            <a:off x="640080" y="1828800"/>
            <a:ext cx="5486400" cy="1005840"/>
          </a:xfrm>
          <a:prstGeom prst="rect">
            <a:avLst/>
          </a:prstGeom>
          <a:noFill/>
          <a:ln/>
        </p:spPr>
        <p:txBody>
          <a:bodyPr wrap="square" lIns="0" tIns="0" rIns="0" bIns="0" rtlCol="0" anchor="ctr"/>
          <a:lstStyle/>
          <a:p>
            <a:pPr indent="0" marL="0">
              <a:buNone/>
            </a:pPr>
            <a:r>
              <a:rPr lang="en-US" sz="4400" b="1" dirty="0">
                <a:solidFill>
                  <a:srgbClr val="F4EFE4"/>
                </a:solidFill>
                <a:latin typeface="Space Grotesk" pitchFamily="34" charset="0"/>
                <a:ea typeface="Space Grotesk" pitchFamily="34" charset="-122"/>
                <a:cs typeface="Space Grotesk" pitchFamily="34" charset="-120"/>
              </a:rPr>
              <a:t>Backgammon AI</a:t>
            </a:r>
            <a:endParaRPr lang="en-US" sz="4400" dirty="0"/>
          </a:p>
        </p:txBody>
      </p:sp>
      <p:sp>
        <p:nvSpPr>
          <p:cNvPr id="4" name="Text 2"/>
          <p:cNvSpPr txBox="1"/>
          <p:nvPr/>
        </p:nvSpPr>
        <p:spPr>
          <a:xfrm>
            <a:off x="640080" y="2880360"/>
            <a:ext cx="5120640" cy="457200"/>
          </a:xfrm>
          <a:prstGeom prst="rect">
            <a:avLst/>
          </a:prstGeom>
          <a:noFill/>
          <a:ln/>
        </p:spPr>
        <p:txBody>
          <a:bodyPr wrap="square" lIns="0" tIns="0" rIns="0" bIns="0" rtlCol="0" anchor="ctr"/>
          <a:lstStyle/>
          <a:p>
            <a:pPr indent="0" marL="0">
              <a:buNone/>
            </a:pPr>
            <a:r>
              <a:rPr lang="en-US" sz="1800" dirty="0">
                <a:solidFill>
                  <a:srgbClr val="DFE7E2"/>
                </a:solidFill>
                <a:latin typeface="Inter" pitchFamily="34" charset="0"/>
                <a:ea typeface="Inter" pitchFamily="34" charset="-122"/>
                <a:cs typeface="Inter" pitchFamily="34" charset="-120"/>
              </a:rPr>
              <a:t>An Expectiminimax opponent for a game of chance</a:t>
            </a:r>
            <a:endParaRPr lang="en-US" sz="1800" dirty="0"/>
          </a:p>
        </p:txBody>
      </p:sp>
      <p:sp>
        <p:nvSpPr>
          <p:cNvPr id="5" name="Text 3"/>
          <p:cNvSpPr txBox="1"/>
          <p:nvPr/>
        </p:nvSpPr>
        <p:spPr>
          <a:xfrm>
            <a:off x="640080" y="3703320"/>
            <a:ext cx="5120640" cy="365760"/>
          </a:xfrm>
          <a:prstGeom prst="rect">
            <a:avLst/>
          </a:prstGeom>
          <a:noFill/>
          <a:ln/>
        </p:spPr>
        <p:txBody>
          <a:bodyPr wrap="square" lIns="0" tIns="0" rIns="0" bIns="0" rtlCol="0" anchor="ctr"/>
          <a:lstStyle/>
          <a:p>
            <a:pPr indent="0" marL="0">
              <a:buNone/>
            </a:pPr>
            <a:r>
              <a:rPr lang="en-US" sz="1600" b="1" dirty="0">
                <a:solidFill>
                  <a:srgbClr val="F4EFE4"/>
                </a:solidFill>
                <a:latin typeface="Inter" pitchFamily="34" charset="0"/>
                <a:ea typeface="Inter" pitchFamily="34" charset="-122"/>
                <a:cs typeface="Inter" pitchFamily="34" charset="-120"/>
              </a:rPr>
              <a:t>Krishna Mahajan · 106wucww</a:t>
            </a:r>
            <a:endParaRPr lang="en-US" sz="1600" dirty="0"/>
          </a:p>
        </p:txBody>
      </p:sp>
      <p:sp>
        <p:nvSpPr>
          <p:cNvPr id="6" name="Text 4">
            <a:hlinkClick r:id="rId1" tooltip=""/>
          </p:cNvPr>
          <p:cNvSpPr txBox="1"/>
          <p:nvPr/>
        </p:nvSpPr>
        <p:spPr>
          <a:xfrm>
            <a:off x="640080" y="4114800"/>
            <a:ext cx="5120640" cy="320040"/>
          </a:xfrm>
          <a:prstGeom prst="rect">
            <a:avLst/>
          </a:prstGeom>
          <a:noFill/>
          <a:ln/>
        </p:spPr>
        <p:txBody>
          <a:bodyPr wrap="square" lIns="0" tIns="0" rIns="0" bIns="0" rtlCol="0" anchor="ctr"/>
          <a:lstStyle/>
          <a:p>
            <a:pPr indent="0" marL="0">
              <a:buNone/>
            </a:pPr>
            <a:r>
              <a:rPr lang="en-US" sz="1400" u="sng" dirty="0">
                <a:solidFill>
                  <a:srgbClr val="D9A13B"/>
                </a:solidFill>
                <a:latin typeface="Inter" pitchFamily="34" charset="0"/>
                <a:ea typeface="Inter" pitchFamily="34" charset="-122"/>
                <a:cs typeface="Inter" pitchFamily="34" charset="-120"/>
                <a:hlinkClick r:id="rId1" invalidUrl="" action="" tgtFrame="" tooltip="" history="1" highlightClick="0" endSnd="0">
                  <a:extLst>
                    <a:ext uri="{A12FA001-AC4F-418D-AE19-62706E023703}">
                      <ahyp:hlinkClr xmlns:ahyp="http://schemas.microsoft.com/office/drawing/2018/hyperlinkcolor" val="tx"/>
                    </a:ext>
                  </a:extLst>
                </a:hlinkClick>
              </a:rPr>
              <a:t>kris072008.itch.io/backgammon-ai</a:t>
            </a:r>
            <a:endParaRPr lang="en-US" sz="1400" dirty="0"/>
          </a:p>
        </p:txBody>
      </p:sp>
      <p:pic>
        <p:nvPicPr>
          <p:cNvPr id="7" name="Image 0" descr="image-1-1.png">    </p:cNvPr>
          <p:cNvPicPr>
            <a:picLocks noChangeAspect="1"/>
          </p:cNvPicPr>
          <p:nvPr/>
        </p:nvPicPr>
        <p:blipFill>
          <a:blip r:embed="rId2"/>
          <a:stretch>
            <a:fillRect/>
          </a:stretch>
        </p:blipFill>
        <p:spPr>
          <a:xfrm>
            <a:off x="6309360" y="1417320"/>
            <a:ext cx="5239512" cy="3200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EFE4"/>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indent="0" marL="0">
              <a:buNone/>
            </a:pPr>
            <a:r>
              <a:rPr lang="en-US" sz="2800" b="1" dirty="0">
                <a:solidFill>
                  <a:srgbClr val="1D2521"/>
                </a:solidFill>
                <a:latin typeface="Space Grotesk" pitchFamily="34" charset="0"/>
                <a:ea typeface="Space Grotesk" pitchFamily="34" charset="-122"/>
                <a:cs typeface="Space Grotesk" pitchFamily="34" charset="-120"/>
              </a:rPr>
              <a:t>The brief</a:t>
            </a:r>
            <a:endParaRPr lang="en-US" sz="2800" dirty="0"/>
          </a:p>
        </p:txBody>
      </p:sp>
      <p:sp>
        <p:nvSpPr>
          <p:cNvPr id="3" name="Text 1"/>
          <p:cNvSpPr txBox="1"/>
          <p:nvPr/>
        </p:nvSpPr>
        <p:spPr>
          <a:xfrm>
            <a:off x="640080" y="6355080"/>
            <a:ext cx="7315200" cy="228600"/>
          </a:xfrm>
          <a:prstGeom prst="rect">
            <a:avLst/>
          </a:prstGeom>
          <a:noFill/>
          <a:ln/>
        </p:spPr>
        <p:txBody>
          <a:bodyPr wrap="square" lIns="0" tIns="0" rIns="0" bIns="0" rtlCol="0" anchor="ctr"/>
          <a:lstStyle/>
          <a:p>
            <a:pPr indent="0" marL="0">
              <a:buNone/>
            </a:pPr>
            <a:r>
              <a:rPr lang="en-US" sz="900" dirty="0">
                <a:solidFill>
                  <a:srgbClr val="5D6A64"/>
                </a:solidFill>
                <a:latin typeface="Inter" pitchFamily="34" charset="0"/>
                <a:ea typeface="Inter" pitchFamily="34" charset="-122"/>
                <a:cs typeface="Inter" pitchFamily="34" charset="-120"/>
              </a:rPr>
              <a:t>Krishna Mahajan (106wucww) · 5ENT1140 AI Principles</a:t>
            </a:r>
            <a:endParaRPr lang="en-US" sz="900" dirty="0"/>
          </a:p>
        </p:txBody>
      </p:sp>
      <p:sp>
        <p:nvSpPr>
          <p:cNvPr id="4" name="Text 2"/>
          <p:cNvSpPr txBox="1"/>
          <p:nvPr/>
        </p:nvSpPr>
        <p:spPr>
          <a:xfrm>
            <a:off x="10881360" y="6355080"/>
            <a:ext cx="640080" cy="228600"/>
          </a:xfrm>
          <a:prstGeom prst="rect">
            <a:avLst/>
          </a:prstGeom>
          <a:noFill/>
          <a:ln/>
        </p:spPr>
        <p:txBody>
          <a:bodyPr wrap="square" lIns="0" tIns="0" rIns="0" bIns="0" rtlCol="0" anchor="ctr"/>
          <a:lstStyle/>
          <a:p>
            <a:pPr algn="r" indent="0" marL="0">
              <a:buNone/>
            </a:pPr>
            <a:r>
              <a:rPr lang="en-US" sz="900" dirty="0">
                <a:solidFill>
                  <a:srgbClr val="5D6A64"/>
                </a:solidFill>
                <a:latin typeface="Inter" pitchFamily="34" charset="0"/>
                <a:ea typeface="Inter" pitchFamily="34" charset="-122"/>
                <a:cs typeface="Inter" pitchFamily="34" charset="-120"/>
              </a:rPr>
              <a:t>2</a:t>
            </a:r>
            <a:endParaRPr lang="en-US" sz="900" dirty="0"/>
          </a:p>
        </p:txBody>
      </p:sp>
      <p:sp>
        <p:nvSpPr>
          <p:cNvPr id="5" name="Text 3"/>
          <p:cNvSpPr txBox="1"/>
          <p:nvPr/>
        </p:nvSpPr>
        <p:spPr>
          <a:xfrm>
            <a:off x="640080" y="1371600"/>
            <a:ext cx="10515600" cy="822960"/>
          </a:xfrm>
          <a:prstGeom prst="rect">
            <a:avLst/>
          </a:prstGeom>
          <a:noFill/>
          <a:ln/>
        </p:spPr>
        <p:txBody>
          <a:bodyPr wrap="square" lIns="0" tIns="0" rIns="0" bIns="0" rtlCol="0" anchor="ctr"/>
          <a:lstStyle/>
          <a:p>
            <a:pPr indent="0" marL="0">
              <a:buNone/>
            </a:pPr>
            <a:r>
              <a:rPr lang="en-US" sz="1800" dirty="0">
                <a:solidFill>
                  <a:srgbClr val="1D2521"/>
                </a:solidFill>
                <a:latin typeface="Inter" pitchFamily="34" charset="0"/>
                <a:ea typeface="Inter" pitchFamily="34" charset="-122"/>
                <a:cs typeface="Inter" pitchFamily="34" charset="-120"/>
              </a:rPr>
              <a:t>Implement a </a:t>
            </a:r>
            <a:pPr indent="0" marL="0">
              <a:buNone/>
            </a:pPr>
            <a:r>
              <a:rPr lang="en-US" sz="1800" b="1" dirty="0">
                <a:solidFill>
                  <a:srgbClr val="1D2521"/>
                </a:solidFill>
                <a:latin typeface="Inter" pitchFamily="34" charset="0"/>
                <a:ea typeface="Inter" pitchFamily="34" charset="-122"/>
                <a:cs typeface="Inter" pitchFamily="34" charset="-120"/>
              </a:rPr>
              <a:t>two-player game that involves chance</a:t>
            </a:r>
            <a:pPr indent="0" marL="0">
              <a:buNone/>
            </a:pPr>
            <a:r>
              <a:rPr lang="en-US" sz="1800" dirty="0">
                <a:solidFill>
                  <a:srgbClr val="1D2521"/>
                </a:solidFill>
                <a:latin typeface="Inter" pitchFamily="34" charset="0"/>
                <a:ea typeface="Inter" pitchFamily="34" charset="-122"/>
                <a:cs typeface="Inter" pitchFamily="34" charset="-120"/>
              </a:rPr>
              <a:t>. At each turn the algorithm evaluates all possible consequences of each move and chooses the one </a:t>
            </a:r>
            <a:pPr indent="0" marL="0">
              <a:buNone/>
            </a:pPr>
            <a:r>
              <a:rPr lang="en-US" sz="1800" b="1" dirty="0">
                <a:solidFill>
                  <a:srgbClr val="1D2521"/>
                </a:solidFill>
                <a:latin typeface="Inter" pitchFamily="34" charset="0"/>
                <a:ea typeface="Inter" pitchFamily="34" charset="-122"/>
                <a:cs typeface="Inter" pitchFamily="34" charset="-120"/>
              </a:rPr>
              <a:t>closest to victory</a:t>
            </a:r>
            <a:pPr indent="0" marL="0">
              <a:buNone/>
            </a:pPr>
            <a:r>
              <a:rPr lang="en-US" sz="1800" dirty="0">
                <a:solidFill>
                  <a:srgbClr val="1D2521"/>
                </a:solidFill>
                <a:latin typeface="Inter" pitchFamily="34" charset="0"/>
                <a:ea typeface="Inter" pitchFamily="34" charset="-122"/>
                <a:cs typeface="Inter" pitchFamily="34" charset="-120"/>
              </a:rPr>
              <a:t>.</a:t>
            </a:r>
            <a:endParaRPr lang="en-US" sz="1800" dirty="0"/>
          </a:p>
        </p:txBody>
      </p:sp>
      <p:sp>
        <p:nvSpPr>
          <p:cNvPr id="6" name="Shape 4"/>
          <p:cNvSpPr/>
          <p:nvPr/>
        </p:nvSpPr>
        <p:spPr>
          <a:xfrm>
            <a:off x="640080" y="2560320"/>
            <a:ext cx="3383280" cy="1554480"/>
          </a:xfrm>
          <a:prstGeom prst="rect">
            <a:avLst/>
          </a:prstGeom>
          <a:solidFill>
            <a:srgbClr val="FBF8F1"/>
          </a:solidFill>
          <a:ln w="9525">
            <a:solidFill>
              <a:srgbClr val="E2DCCD"/>
            </a:solidFill>
            <a:prstDash val="solid"/>
          </a:ln>
        </p:spPr>
      </p:sp>
      <p:sp>
        <p:nvSpPr>
          <p:cNvPr id="7" name="Text 5"/>
          <p:cNvSpPr txBox="1"/>
          <p:nvPr/>
        </p:nvSpPr>
        <p:spPr>
          <a:xfrm>
            <a:off x="914400" y="2788920"/>
            <a:ext cx="2834640" cy="365760"/>
          </a:xfrm>
          <a:prstGeom prst="rect">
            <a:avLst/>
          </a:prstGeom>
          <a:noFill/>
          <a:ln/>
        </p:spPr>
        <p:txBody>
          <a:bodyPr wrap="square" lIns="0" tIns="0" rIns="0" bIns="0" rtlCol="0" anchor="ctr"/>
          <a:lstStyle/>
          <a:p>
            <a:pPr indent="0" marL="0">
              <a:buNone/>
            </a:pPr>
            <a:r>
              <a:rPr lang="en-US" sz="1600" b="1" dirty="0">
                <a:solidFill>
                  <a:srgbClr val="B5443D"/>
                </a:solidFill>
                <a:latin typeface="Inter" pitchFamily="34" charset="0"/>
                <a:ea typeface="Inter" pitchFamily="34" charset="-122"/>
                <a:cs typeface="Inter" pitchFamily="34" charset="-120"/>
              </a:rPr>
              <a:t>Game of chance</a:t>
            </a:r>
            <a:endParaRPr lang="en-US" sz="1600" dirty="0"/>
          </a:p>
        </p:txBody>
      </p:sp>
      <p:sp>
        <p:nvSpPr>
          <p:cNvPr id="8" name="Text 6"/>
          <p:cNvSpPr txBox="1"/>
          <p:nvPr/>
        </p:nvSpPr>
        <p:spPr>
          <a:xfrm>
            <a:off x="914400" y="3246120"/>
            <a:ext cx="2834640" cy="731520"/>
          </a:xfrm>
          <a:prstGeom prst="rect">
            <a:avLst/>
          </a:prstGeom>
          <a:noFill/>
          <a:ln/>
        </p:spPr>
        <p:txBody>
          <a:bodyPr wrap="square" lIns="0" tIns="0" rIns="0" bIns="0" rtlCol="0" anchor="t"/>
          <a:lstStyle/>
          <a:p>
            <a:pPr indent="0" marL="0">
              <a:buNone/>
            </a:pPr>
            <a:r>
              <a:rPr lang="en-US" sz="1400" dirty="0">
                <a:solidFill>
                  <a:srgbClr val="1D2521"/>
                </a:solidFill>
                <a:latin typeface="Inter" pitchFamily="34" charset="0"/>
                <a:ea typeface="Inter" pitchFamily="34" charset="-122"/>
                <a:cs typeface="Inter" pitchFamily="34" charset="-120"/>
              </a:rPr>
              <a:t>Backgammon: two dice decide every turn</a:t>
            </a:r>
            <a:endParaRPr lang="en-US" sz="1400" dirty="0"/>
          </a:p>
        </p:txBody>
      </p:sp>
      <p:sp>
        <p:nvSpPr>
          <p:cNvPr id="9" name="Shape 7"/>
          <p:cNvSpPr/>
          <p:nvPr/>
        </p:nvSpPr>
        <p:spPr>
          <a:xfrm>
            <a:off x="4297680" y="2560320"/>
            <a:ext cx="3383280" cy="1554480"/>
          </a:xfrm>
          <a:prstGeom prst="rect">
            <a:avLst/>
          </a:prstGeom>
          <a:solidFill>
            <a:srgbClr val="FBF8F1"/>
          </a:solidFill>
          <a:ln w="9525">
            <a:solidFill>
              <a:srgbClr val="E2DCCD"/>
            </a:solidFill>
            <a:prstDash val="solid"/>
          </a:ln>
        </p:spPr>
      </p:sp>
      <p:sp>
        <p:nvSpPr>
          <p:cNvPr id="10" name="Text 8"/>
          <p:cNvSpPr txBox="1"/>
          <p:nvPr/>
        </p:nvSpPr>
        <p:spPr>
          <a:xfrm>
            <a:off x="4572000" y="2788920"/>
            <a:ext cx="2834640" cy="365760"/>
          </a:xfrm>
          <a:prstGeom prst="rect">
            <a:avLst/>
          </a:prstGeom>
          <a:noFill/>
          <a:ln/>
        </p:spPr>
        <p:txBody>
          <a:bodyPr wrap="square" lIns="0" tIns="0" rIns="0" bIns="0" rtlCol="0" anchor="ctr"/>
          <a:lstStyle/>
          <a:p>
            <a:pPr indent="0" marL="0">
              <a:buNone/>
            </a:pPr>
            <a:r>
              <a:rPr lang="en-US" sz="1600" b="1" dirty="0">
                <a:solidFill>
                  <a:srgbClr val="B5443D"/>
                </a:solidFill>
                <a:latin typeface="Inter" pitchFamily="34" charset="0"/>
                <a:ea typeface="Inter" pitchFamily="34" charset="-122"/>
                <a:cs typeface="Inter" pitchFamily="34" charset="-120"/>
              </a:rPr>
              <a:t>All consequences</a:t>
            </a:r>
            <a:endParaRPr lang="en-US" sz="1600" dirty="0"/>
          </a:p>
        </p:txBody>
      </p:sp>
      <p:sp>
        <p:nvSpPr>
          <p:cNvPr id="11" name="Text 9"/>
          <p:cNvSpPr txBox="1"/>
          <p:nvPr/>
        </p:nvSpPr>
        <p:spPr>
          <a:xfrm>
            <a:off x="4572000" y="3246120"/>
            <a:ext cx="2834640" cy="731520"/>
          </a:xfrm>
          <a:prstGeom prst="rect">
            <a:avLst/>
          </a:prstGeom>
          <a:noFill/>
          <a:ln/>
        </p:spPr>
        <p:txBody>
          <a:bodyPr wrap="square" lIns="0" tIns="0" rIns="0" bIns="0" rtlCol="0" anchor="t"/>
          <a:lstStyle/>
          <a:p>
            <a:pPr indent="0" marL="0">
              <a:buNone/>
            </a:pPr>
            <a:r>
              <a:rPr lang="en-US" sz="1400" dirty="0">
                <a:solidFill>
                  <a:srgbClr val="1D2521"/>
                </a:solidFill>
                <a:latin typeface="Inter" pitchFamily="34" charset="0"/>
                <a:ea typeface="Inter" pitchFamily="34" charset="-122"/>
                <a:cs typeface="Inter" pitchFamily="34" charset="-120"/>
              </a:rPr>
              <a:t>Every legal turn, every roll, every reply</a:t>
            </a:r>
            <a:endParaRPr lang="en-US" sz="1400" dirty="0"/>
          </a:p>
        </p:txBody>
      </p:sp>
      <p:sp>
        <p:nvSpPr>
          <p:cNvPr id="12" name="Shape 10"/>
          <p:cNvSpPr/>
          <p:nvPr/>
        </p:nvSpPr>
        <p:spPr>
          <a:xfrm>
            <a:off x="7955280" y="2560320"/>
            <a:ext cx="3383280" cy="1554480"/>
          </a:xfrm>
          <a:prstGeom prst="rect">
            <a:avLst/>
          </a:prstGeom>
          <a:solidFill>
            <a:srgbClr val="FBF8F1"/>
          </a:solidFill>
          <a:ln w="9525">
            <a:solidFill>
              <a:srgbClr val="E2DCCD"/>
            </a:solidFill>
            <a:prstDash val="solid"/>
          </a:ln>
        </p:spPr>
      </p:sp>
      <p:sp>
        <p:nvSpPr>
          <p:cNvPr id="13" name="Text 11"/>
          <p:cNvSpPr txBox="1"/>
          <p:nvPr/>
        </p:nvSpPr>
        <p:spPr>
          <a:xfrm>
            <a:off x="8229600" y="2788920"/>
            <a:ext cx="2834640" cy="365760"/>
          </a:xfrm>
          <a:prstGeom prst="rect">
            <a:avLst/>
          </a:prstGeom>
          <a:noFill/>
          <a:ln/>
        </p:spPr>
        <p:txBody>
          <a:bodyPr wrap="square" lIns="0" tIns="0" rIns="0" bIns="0" rtlCol="0" anchor="ctr"/>
          <a:lstStyle/>
          <a:p>
            <a:pPr indent="0" marL="0">
              <a:buNone/>
            </a:pPr>
            <a:r>
              <a:rPr lang="en-US" sz="1600" b="1" dirty="0">
                <a:solidFill>
                  <a:srgbClr val="B5443D"/>
                </a:solidFill>
                <a:latin typeface="Inter" pitchFamily="34" charset="0"/>
                <a:ea typeface="Inter" pitchFamily="34" charset="-122"/>
                <a:cs typeface="Inter" pitchFamily="34" charset="-120"/>
              </a:rPr>
              <a:t>Four deliverables</a:t>
            </a:r>
            <a:endParaRPr lang="en-US" sz="1600" dirty="0"/>
          </a:p>
        </p:txBody>
      </p:sp>
      <p:sp>
        <p:nvSpPr>
          <p:cNvPr id="14" name="Text 12"/>
          <p:cNvSpPr txBox="1"/>
          <p:nvPr/>
        </p:nvSpPr>
        <p:spPr>
          <a:xfrm>
            <a:off x="8229600" y="3246120"/>
            <a:ext cx="2834640" cy="731520"/>
          </a:xfrm>
          <a:prstGeom prst="rect">
            <a:avLst/>
          </a:prstGeom>
          <a:noFill/>
          <a:ln/>
        </p:spPr>
        <p:txBody>
          <a:bodyPr wrap="square" lIns="0" tIns="0" rIns="0" bIns="0" rtlCol="0" anchor="t"/>
          <a:lstStyle/>
          <a:p>
            <a:pPr indent="0" marL="0">
              <a:buNone/>
            </a:pPr>
            <a:r>
              <a:rPr lang="en-US" sz="1400" dirty="0">
                <a:solidFill>
                  <a:srgbClr val="1D2521"/>
                </a:solidFill>
                <a:latin typeface="Inter" pitchFamily="34" charset="0"/>
                <a:ea typeface="Inter" pitchFamily="34" charset="-122"/>
                <a:cs typeface="Inter" pitchFamily="34" charset="-120"/>
              </a:rPr>
              <a:t>Published game, deck, report, code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302A"/>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indent="0" marL="0">
              <a:buNone/>
            </a:pPr>
            <a:r>
              <a:rPr lang="en-US" sz="2800" b="1" dirty="0">
                <a:solidFill>
                  <a:srgbClr val="F4EFE4"/>
                </a:solidFill>
                <a:latin typeface="Space Grotesk" pitchFamily="34" charset="0"/>
                <a:ea typeface="Space Grotesk" pitchFamily="34" charset="-122"/>
                <a:cs typeface="Space Grotesk" pitchFamily="34" charset="-120"/>
              </a:rPr>
              <a:t>Why backgammon</a:t>
            </a:r>
            <a:endParaRPr lang="en-US" sz="2800" dirty="0"/>
          </a:p>
        </p:txBody>
      </p:sp>
      <p:sp>
        <p:nvSpPr>
          <p:cNvPr id="3" name="Text 1"/>
          <p:cNvSpPr txBox="1"/>
          <p:nvPr/>
        </p:nvSpPr>
        <p:spPr>
          <a:xfrm>
            <a:off x="640080" y="6355080"/>
            <a:ext cx="7315200" cy="228600"/>
          </a:xfrm>
          <a:prstGeom prst="rect">
            <a:avLst/>
          </a:prstGeom>
          <a:noFill/>
          <a:ln/>
        </p:spPr>
        <p:txBody>
          <a:bodyPr wrap="square" lIns="0" tIns="0" rIns="0" bIns="0" rtlCol="0" anchor="ctr"/>
          <a:lstStyle/>
          <a:p>
            <a:pPr indent="0" marL="0">
              <a:buNone/>
            </a:pPr>
            <a:r>
              <a:rPr lang="en-US" sz="900" dirty="0">
                <a:solidFill>
                  <a:srgbClr val="B5B1A9"/>
                </a:solidFill>
                <a:latin typeface="Inter" pitchFamily="34" charset="0"/>
                <a:ea typeface="Inter" pitchFamily="34" charset="-122"/>
                <a:cs typeface="Inter" pitchFamily="34" charset="-120"/>
              </a:rPr>
              <a:t>Krishna Mahajan (106wucww) · 5ENT1140 AI Principles</a:t>
            </a:r>
            <a:endParaRPr lang="en-US" sz="900" dirty="0"/>
          </a:p>
        </p:txBody>
      </p:sp>
      <p:sp>
        <p:nvSpPr>
          <p:cNvPr id="4" name="Text 2"/>
          <p:cNvSpPr txBox="1"/>
          <p:nvPr/>
        </p:nvSpPr>
        <p:spPr>
          <a:xfrm>
            <a:off x="10881360" y="6355080"/>
            <a:ext cx="640080" cy="228600"/>
          </a:xfrm>
          <a:prstGeom prst="rect">
            <a:avLst/>
          </a:prstGeom>
          <a:noFill/>
          <a:ln/>
        </p:spPr>
        <p:txBody>
          <a:bodyPr wrap="square" lIns="0" tIns="0" rIns="0" bIns="0" rtlCol="0" anchor="ctr"/>
          <a:lstStyle/>
          <a:p>
            <a:pPr algn="r" indent="0" marL="0">
              <a:buNone/>
            </a:pPr>
            <a:r>
              <a:rPr lang="en-US" sz="900" dirty="0">
                <a:solidFill>
                  <a:srgbClr val="B5B1A9"/>
                </a:solidFill>
                <a:latin typeface="Inter" pitchFamily="34" charset="0"/>
                <a:ea typeface="Inter" pitchFamily="34" charset="-122"/>
                <a:cs typeface="Inter" pitchFamily="34" charset="-120"/>
              </a:rPr>
              <a:t>3</a:t>
            </a:r>
            <a:endParaRPr lang="en-US" sz="900" dirty="0"/>
          </a:p>
        </p:txBody>
      </p:sp>
      <p:sp>
        <p:nvSpPr>
          <p:cNvPr id="5" name="Text 3"/>
          <p:cNvSpPr txBox="1"/>
          <p:nvPr/>
        </p:nvSpPr>
        <p:spPr>
          <a:xfrm>
            <a:off x="640080" y="1325880"/>
            <a:ext cx="10058400" cy="548640"/>
          </a:xfrm>
          <a:prstGeom prst="rect">
            <a:avLst/>
          </a:prstGeom>
          <a:noFill/>
          <a:ln/>
        </p:spPr>
        <p:txBody>
          <a:bodyPr wrap="square" lIns="0" tIns="0" rIns="0" bIns="0" rtlCol="0" anchor="ctr"/>
          <a:lstStyle/>
          <a:p>
            <a:pPr indent="0" marL="0">
              <a:buNone/>
            </a:pPr>
            <a:r>
              <a:rPr lang="en-US" sz="2200" dirty="0">
                <a:solidFill>
                  <a:srgbClr val="D9A13B"/>
                </a:solidFill>
                <a:latin typeface="Inter" pitchFamily="34" charset="0"/>
                <a:ea typeface="Inter" pitchFamily="34" charset="-122"/>
                <a:cs typeface="Inter" pitchFamily="34" charset="-120"/>
              </a:rPr>
              <a:t>The dice decide which moves even exist, so plain Minimax is not enough.</a:t>
            </a:r>
            <a:endParaRPr lang="en-US" sz="2200" dirty="0"/>
          </a:p>
        </p:txBody>
      </p:sp>
      <p:sp>
        <p:nvSpPr>
          <p:cNvPr id="6" name="Shape 4"/>
          <p:cNvSpPr/>
          <p:nvPr/>
        </p:nvSpPr>
        <p:spPr>
          <a:xfrm>
            <a:off x="640080" y="2743200"/>
            <a:ext cx="3291840" cy="0"/>
          </a:xfrm>
          <a:prstGeom prst="line">
            <a:avLst/>
          </a:prstGeom>
          <a:noFill/>
          <a:ln w="12700">
            <a:solidFill>
              <a:srgbClr val="D9A13B"/>
            </a:solidFill>
            <a:prstDash val="solid"/>
          </a:ln>
        </p:spPr>
      </p:sp>
      <p:sp>
        <p:nvSpPr>
          <p:cNvPr id="7" name="Text 5"/>
          <p:cNvSpPr txBox="1"/>
          <p:nvPr/>
        </p:nvSpPr>
        <p:spPr>
          <a:xfrm>
            <a:off x="640080" y="2971800"/>
            <a:ext cx="3291840" cy="731520"/>
          </a:xfrm>
          <a:prstGeom prst="rect">
            <a:avLst/>
          </a:prstGeom>
          <a:noFill/>
          <a:ln/>
        </p:spPr>
        <p:txBody>
          <a:bodyPr wrap="square" lIns="0" tIns="0" rIns="0" bIns="0" rtlCol="0" anchor="ctr"/>
          <a:lstStyle/>
          <a:p>
            <a:pPr indent="0" marL="0">
              <a:buNone/>
            </a:pPr>
            <a:r>
              <a:rPr lang="en-US" sz="4000" b="1" dirty="0">
                <a:solidFill>
                  <a:srgbClr val="F4EFE4"/>
                </a:solidFill>
                <a:latin typeface="Space Grotesk" pitchFamily="34" charset="0"/>
                <a:ea typeface="Space Grotesk" pitchFamily="34" charset="-122"/>
                <a:cs typeface="Space Grotesk" pitchFamily="34" charset="-120"/>
              </a:rPr>
              <a:t>21</a:t>
            </a:r>
            <a:endParaRPr lang="en-US" sz="4000" dirty="0"/>
          </a:p>
        </p:txBody>
      </p:sp>
      <p:sp>
        <p:nvSpPr>
          <p:cNvPr id="8" name="Text 6"/>
          <p:cNvSpPr txBox="1"/>
          <p:nvPr/>
        </p:nvSpPr>
        <p:spPr>
          <a:xfrm>
            <a:off x="640080" y="3749040"/>
            <a:ext cx="3108960" cy="548640"/>
          </a:xfrm>
          <a:prstGeom prst="rect">
            <a:avLst/>
          </a:prstGeom>
          <a:noFill/>
          <a:ln/>
        </p:spPr>
        <p:txBody>
          <a:bodyPr wrap="square" lIns="0" tIns="0" rIns="0" bIns="0" rtlCol="0" anchor="ctr"/>
          <a:lstStyle/>
          <a:p>
            <a:pPr indent="0" marL="0">
              <a:buNone/>
            </a:pPr>
            <a:r>
              <a:rPr lang="en-US" sz="1400" dirty="0">
                <a:solidFill>
                  <a:srgbClr val="DFE7E2"/>
                </a:solidFill>
                <a:latin typeface="Inter" pitchFamily="34" charset="0"/>
                <a:ea typeface="Inter" pitchFamily="34" charset="-122"/>
                <a:cs typeface="Inter" pitchFamily="34" charset="-120"/>
              </a:rPr>
              <a:t>distinct dice rolls every turn</a:t>
            </a:r>
            <a:endParaRPr lang="en-US" sz="1400" dirty="0"/>
          </a:p>
        </p:txBody>
      </p:sp>
      <p:sp>
        <p:nvSpPr>
          <p:cNvPr id="9" name="Shape 7"/>
          <p:cNvSpPr/>
          <p:nvPr/>
        </p:nvSpPr>
        <p:spPr>
          <a:xfrm>
            <a:off x="4297680" y="2743200"/>
            <a:ext cx="3291840" cy="0"/>
          </a:xfrm>
          <a:prstGeom prst="line">
            <a:avLst/>
          </a:prstGeom>
          <a:noFill/>
          <a:ln w="12700">
            <a:solidFill>
              <a:srgbClr val="D9A13B"/>
            </a:solidFill>
            <a:prstDash val="solid"/>
          </a:ln>
        </p:spPr>
      </p:sp>
      <p:sp>
        <p:nvSpPr>
          <p:cNvPr id="10" name="Text 8"/>
          <p:cNvSpPr txBox="1"/>
          <p:nvPr/>
        </p:nvSpPr>
        <p:spPr>
          <a:xfrm>
            <a:off x="4297680" y="2971800"/>
            <a:ext cx="3291840" cy="731520"/>
          </a:xfrm>
          <a:prstGeom prst="rect">
            <a:avLst/>
          </a:prstGeom>
          <a:noFill/>
          <a:ln/>
        </p:spPr>
        <p:txBody>
          <a:bodyPr wrap="square" lIns="0" tIns="0" rIns="0" bIns="0" rtlCol="0" anchor="ctr"/>
          <a:lstStyle/>
          <a:p>
            <a:pPr indent="0" marL="0">
              <a:buNone/>
            </a:pPr>
            <a:r>
              <a:rPr lang="en-US" sz="4000" b="1" dirty="0">
                <a:solidFill>
                  <a:srgbClr val="F4EFE4"/>
                </a:solidFill>
                <a:latin typeface="Space Grotesk" pitchFamily="34" charset="0"/>
                <a:ea typeface="Space Grotesk" pitchFamily="34" charset="-122"/>
                <a:cs typeface="Space Grotesk" pitchFamily="34" charset="-120"/>
              </a:rPr>
              <a:t>15 × 24</a:t>
            </a:r>
            <a:endParaRPr lang="en-US" sz="4000" dirty="0"/>
          </a:p>
        </p:txBody>
      </p:sp>
      <p:sp>
        <p:nvSpPr>
          <p:cNvPr id="11" name="Text 9"/>
          <p:cNvSpPr txBox="1"/>
          <p:nvPr/>
        </p:nvSpPr>
        <p:spPr>
          <a:xfrm>
            <a:off x="4297680" y="3749040"/>
            <a:ext cx="3108960" cy="548640"/>
          </a:xfrm>
          <a:prstGeom prst="rect">
            <a:avLst/>
          </a:prstGeom>
          <a:noFill/>
          <a:ln/>
        </p:spPr>
        <p:txBody>
          <a:bodyPr wrap="square" lIns="0" tIns="0" rIns="0" bIns="0" rtlCol="0" anchor="ctr"/>
          <a:lstStyle/>
          <a:p>
            <a:pPr indent="0" marL="0">
              <a:buNone/>
            </a:pPr>
            <a:r>
              <a:rPr lang="en-US" sz="1400" dirty="0">
                <a:solidFill>
                  <a:srgbClr val="DFE7E2"/>
                </a:solidFill>
                <a:latin typeface="Inter" pitchFamily="34" charset="0"/>
                <a:ea typeface="Inter" pitchFamily="34" charset="-122"/>
                <a:cs typeface="Inter" pitchFamily="34" charset="-120"/>
              </a:rPr>
              <a:t>checkers each on 24 points, full rules</a:t>
            </a:r>
            <a:endParaRPr lang="en-US" sz="1400" dirty="0"/>
          </a:p>
        </p:txBody>
      </p:sp>
      <p:sp>
        <p:nvSpPr>
          <p:cNvPr id="12" name="Shape 10"/>
          <p:cNvSpPr/>
          <p:nvPr/>
        </p:nvSpPr>
        <p:spPr>
          <a:xfrm>
            <a:off x="7955280" y="2743200"/>
            <a:ext cx="3291840" cy="0"/>
          </a:xfrm>
          <a:prstGeom prst="line">
            <a:avLst/>
          </a:prstGeom>
          <a:noFill/>
          <a:ln w="12700">
            <a:solidFill>
              <a:srgbClr val="D9A13B"/>
            </a:solidFill>
            <a:prstDash val="solid"/>
          </a:ln>
        </p:spPr>
      </p:sp>
      <p:sp>
        <p:nvSpPr>
          <p:cNvPr id="13" name="Text 11"/>
          <p:cNvSpPr txBox="1"/>
          <p:nvPr/>
        </p:nvSpPr>
        <p:spPr>
          <a:xfrm>
            <a:off x="7955280" y="2971800"/>
            <a:ext cx="3291840" cy="731520"/>
          </a:xfrm>
          <a:prstGeom prst="rect">
            <a:avLst/>
          </a:prstGeom>
          <a:noFill/>
          <a:ln/>
        </p:spPr>
        <p:txBody>
          <a:bodyPr wrap="square" lIns="0" tIns="0" rIns="0" bIns="0" rtlCol="0" anchor="ctr"/>
          <a:lstStyle/>
          <a:p>
            <a:pPr indent="0" marL="0">
              <a:buNone/>
            </a:pPr>
            <a:r>
              <a:rPr lang="en-US" sz="4000" b="1" dirty="0">
                <a:solidFill>
                  <a:srgbClr val="F4EFE4"/>
                </a:solidFill>
                <a:latin typeface="Space Grotesk" pitchFamily="34" charset="0"/>
                <a:ea typeface="Space Grotesk" pitchFamily="34" charset="-122"/>
                <a:cs typeface="Space Grotesk" pitchFamily="34" charset="-120"/>
              </a:rPr>
              <a:t>1995</a:t>
            </a:r>
            <a:endParaRPr lang="en-US" sz="4000" dirty="0"/>
          </a:p>
        </p:txBody>
      </p:sp>
      <p:sp>
        <p:nvSpPr>
          <p:cNvPr id="14" name="Text 12"/>
          <p:cNvSpPr txBox="1"/>
          <p:nvPr/>
        </p:nvSpPr>
        <p:spPr>
          <a:xfrm>
            <a:off x="7955280" y="3749040"/>
            <a:ext cx="3108960" cy="548640"/>
          </a:xfrm>
          <a:prstGeom prst="rect">
            <a:avLst/>
          </a:prstGeom>
          <a:noFill/>
          <a:ln/>
        </p:spPr>
        <p:txBody>
          <a:bodyPr wrap="square" lIns="0" tIns="0" rIns="0" bIns="0" rtlCol="0" anchor="ctr"/>
          <a:lstStyle/>
          <a:p>
            <a:pPr indent="0" marL="0">
              <a:buNone/>
            </a:pPr>
            <a:r>
              <a:rPr lang="en-US" sz="1400" dirty="0">
                <a:solidFill>
                  <a:srgbClr val="DFE7E2"/>
                </a:solidFill>
                <a:latin typeface="Inter" pitchFamily="34" charset="0"/>
                <a:ea typeface="Inter" pitchFamily="34" charset="-122"/>
                <a:cs typeface="Inter" pitchFamily="34" charset="-120"/>
              </a:rPr>
              <a:t>TD-Gammon made it the classic AI benchmark</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EFE4"/>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indent="0" marL="0">
              <a:buNone/>
            </a:pPr>
            <a:r>
              <a:rPr lang="en-US" sz="2800" b="1" dirty="0">
                <a:solidFill>
                  <a:srgbClr val="1D2521"/>
                </a:solidFill>
                <a:latin typeface="Space Grotesk" pitchFamily="34" charset="0"/>
                <a:ea typeface="Space Grotesk" pitchFamily="34" charset="-122"/>
                <a:cs typeface="Space Grotesk" pitchFamily="34" charset="-120"/>
              </a:rPr>
              <a:t>System architecture</a:t>
            </a:r>
            <a:endParaRPr lang="en-US" sz="2800" dirty="0"/>
          </a:p>
        </p:txBody>
      </p:sp>
      <p:sp>
        <p:nvSpPr>
          <p:cNvPr id="3" name="Text 1"/>
          <p:cNvSpPr txBox="1"/>
          <p:nvPr/>
        </p:nvSpPr>
        <p:spPr>
          <a:xfrm>
            <a:off x="640080" y="6355080"/>
            <a:ext cx="7315200" cy="228600"/>
          </a:xfrm>
          <a:prstGeom prst="rect">
            <a:avLst/>
          </a:prstGeom>
          <a:noFill/>
          <a:ln/>
        </p:spPr>
        <p:txBody>
          <a:bodyPr wrap="square" lIns="0" tIns="0" rIns="0" bIns="0" rtlCol="0" anchor="ctr"/>
          <a:lstStyle/>
          <a:p>
            <a:pPr indent="0" marL="0">
              <a:buNone/>
            </a:pPr>
            <a:r>
              <a:rPr lang="en-US" sz="900" dirty="0">
                <a:solidFill>
                  <a:srgbClr val="5D6A64"/>
                </a:solidFill>
                <a:latin typeface="Inter" pitchFamily="34" charset="0"/>
                <a:ea typeface="Inter" pitchFamily="34" charset="-122"/>
                <a:cs typeface="Inter" pitchFamily="34" charset="-120"/>
              </a:rPr>
              <a:t>Krishna Mahajan (106wucww) · 5ENT1140 AI Principles</a:t>
            </a:r>
            <a:endParaRPr lang="en-US" sz="900" dirty="0"/>
          </a:p>
        </p:txBody>
      </p:sp>
      <p:sp>
        <p:nvSpPr>
          <p:cNvPr id="4" name="Text 2"/>
          <p:cNvSpPr txBox="1"/>
          <p:nvPr/>
        </p:nvSpPr>
        <p:spPr>
          <a:xfrm>
            <a:off x="10881360" y="6355080"/>
            <a:ext cx="640080" cy="228600"/>
          </a:xfrm>
          <a:prstGeom prst="rect">
            <a:avLst/>
          </a:prstGeom>
          <a:noFill/>
          <a:ln/>
        </p:spPr>
        <p:txBody>
          <a:bodyPr wrap="square" lIns="0" tIns="0" rIns="0" bIns="0" rtlCol="0" anchor="ctr"/>
          <a:lstStyle/>
          <a:p>
            <a:pPr algn="r" indent="0" marL="0">
              <a:buNone/>
            </a:pPr>
            <a:r>
              <a:rPr lang="en-US" sz="900" dirty="0">
                <a:solidFill>
                  <a:srgbClr val="5D6A64"/>
                </a:solidFill>
                <a:latin typeface="Inter" pitchFamily="34" charset="0"/>
                <a:ea typeface="Inter" pitchFamily="34" charset="-122"/>
                <a:cs typeface="Inter" pitchFamily="34" charset="-120"/>
              </a:rPr>
              <a:t>4</a:t>
            </a:r>
            <a:endParaRPr lang="en-US" sz="900" dirty="0"/>
          </a:p>
        </p:txBody>
      </p:sp>
      <p:sp>
        <p:nvSpPr>
          <p:cNvPr id="5" name="Shape 3"/>
          <p:cNvSpPr/>
          <p:nvPr/>
        </p:nvSpPr>
        <p:spPr>
          <a:xfrm>
            <a:off x="640080" y="1463040"/>
            <a:ext cx="5349240" cy="1828800"/>
          </a:xfrm>
          <a:prstGeom prst="rect">
            <a:avLst/>
          </a:prstGeom>
          <a:solidFill>
            <a:srgbClr val="FBF8F1"/>
          </a:solidFill>
          <a:ln w="9525">
            <a:solidFill>
              <a:srgbClr val="E2DCCD"/>
            </a:solidFill>
            <a:prstDash val="solid"/>
          </a:ln>
        </p:spPr>
      </p:sp>
      <p:sp>
        <p:nvSpPr>
          <p:cNvPr id="6" name="Text 4"/>
          <p:cNvSpPr txBox="1"/>
          <p:nvPr/>
        </p:nvSpPr>
        <p:spPr>
          <a:xfrm>
            <a:off x="960120" y="1783080"/>
            <a:ext cx="4754880" cy="411480"/>
          </a:xfrm>
          <a:prstGeom prst="rect">
            <a:avLst/>
          </a:prstGeom>
          <a:noFill/>
          <a:ln/>
        </p:spPr>
        <p:txBody>
          <a:bodyPr wrap="square" lIns="0" tIns="0" rIns="0" bIns="0" rtlCol="0" anchor="ctr"/>
          <a:lstStyle/>
          <a:p>
            <a:pPr indent="0" marL="0">
              <a:buNone/>
            </a:pPr>
            <a:r>
              <a:rPr lang="en-US" sz="1800" b="1" dirty="0">
                <a:solidFill>
                  <a:srgbClr val="1D2521"/>
                </a:solidFill>
                <a:latin typeface="Courier New" pitchFamily="34" charset="0"/>
                <a:ea typeface="Courier New" pitchFamily="34" charset="-122"/>
                <a:cs typeface="Courier New" pitchFamily="34" charset="-120"/>
              </a:rPr>
              <a:t>backgammon.py</a:t>
            </a:r>
            <a:endParaRPr lang="en-US" sz="1800" dirty="0"/>
          </a:p>
        </p:txBody>
      </p:sp>
      <p:sp>
        <p:nvSpPr>
          <p:cNvPr id="7" name="Text 5"/>
          <p:cNvSpPr txBox="1"/>
          <p:nvPr/>
        </p:nvSpPr>
        <p:spPr>
          <a:xfrm>
            <a:off x="960120" y="2331720"/>
            <a:ext cx="4754880" cy="731520"/>
          </a:xfrm>
          <a:prstGeom prst="rect">
            <a:avLst/>
          </a:prstGeom>
          <a:noFill/>
          <a:ln/>
        </p:spPr>
        <p:txBody>
          <a:bodyPr wrap="square" lIns="0" tIns="0" rIns="0" bIns="0" rtlCol="0" anchor="t"/>
          <a:lstStyle/>
          <a:p>
            <a:pPr indent="0" marL="0">
              <a:buNone/>
            </a:pPr>
            <a:r>
              <a:rPr lang="en-US" sz="1500" dirty="0">
                <a:solidFill>
                  <a:srgbClr val="5D6A64"/>
                </a:solidFill>
                <a:latin typeface="Inter" pitchFamily="34" charset="0"/>
                <a:ea typeface="Inter" pitchFamily="34" charset="-122"/>
                <a:cs typeface="Inter" pitchFamily="34" charset="-120"/>
              </a:rPr>
              <a:t>Rules engine: board, dice, legal-turn generation, win detection</a:t>
            </a:r>
            <a:endParaRPr lang="en-US" sz="1500" dirty="0"/>
          </a:p>
        </p:txBody>
      </p:sp>
      <p:sp>
        <p:nvSpPr>
          <p:cNvPr id="8" name="Shape 6"/>
          <p:cNvSpPr/>
          <p:nvPr/>
        </p:nvSpPr>
        <p:spPr>
          <a:xfrm>
            <a:off x="6172200" y="1463040"/>
            <a:ext cx="5349240" cy="1828800"/>
          </a:xfrm>
          <a:prstGeom prst="rect">
            <a:avLst/>
          </a:prstGeom>
          <a:solidFill>
            <a:srgbClr val="FBF8F1"/>
          </a:solidFill>
          <a:ln w="9525">
            <a:solidFill>
              <a:srgbClr val="E2DCCD"/>
            </a:solidFill>
            <a:prstDash val="solid"/>
          </a:ln>
        </p:spPr>
      </p:sp>
      <p:sp>
        <p:nvSpPr>
          <p:cNvPr id="9" name="Text 7"/>
          <p:cNvSpPr txBox="1"/>
          <p:nvPr/>
        </p:nvSpPr>
        <p:spPr>
          <a:xfrm>
            <a:off x="6492240" y="1783080"/>
            <a:ext cx="4754880" cy="411480"/>
          </a:xfrm>
          <a:prstGeom prst="rect">
            <a:avLst/>
          </a:prstGeom>
          <a:noFill/>
          <a:ln/>
        </p:spPr>
        <p:txBody>
          <a:bodyPr wrap="square" lIns="0" tIns="0" rIns="0" bIns="0" rtlCol="0" anchor="ctr"/>
          <a:lstStyle/>
          <a:p>
            <a:pPr indent="0" marL="0">
              <a:buNone/>
            </a:pPr>
            <a:r>
              <a:rPr lang="en-US" sz="1800" b="1" dirty="0">
                <a:solidFill>
                  <a:srgbClr val="1D2521"/>
                </a:solidFill>
                <a:latin typeface="Courier New" pitchFamily="34" charset="0"/>
                <a:ea typeface="Courier New" pitchFamily="34" charset="-122"/>
                <a:cs typeface="Courier New" pitchFamily="34" charset="-120"/>
              </a:rPr>
              <a:t>ai.py</a:t>
            </a:r>
            <a:endParaRPr lang="en-US" sz="1800" dirty="0"/>
          </a:p>
        </p:txBody>
      </p:sp>
      <p:sp>
        <p:nvSpPr>
          <p:cNvPr id="10" name="Text 8"/>
          <p:cNvSpPr txBox="1"/>
          <p:nvPr/>
        </p:nvSpPr>
        <p:spPr>
          <a:xfrm>
            <a:off x="6492240" y="2331720"/>
            <a:ext cx="4754880" cy="731520"/>
          </a:xfrm>
          <a:prstGeom prst="rect">
            <a:avLst/>
          </a:prstGeom>
          <a:noFill/>
          <a:ln/>
        </p:spPr>
        <p:txBody>
          <a:bodyPr wrap="square" lIns="0" tIns="0" rIns="0" bIns="0" rtlCol="0" anchor="t"/>
          <a:lstStyle/>
          <a:p>
            <a:pPr indent="0" marL="0">
              <a:buNone/>
            </a:pPr>
            <a:r>
              <a:rPr lang="en-US" sz="1500" dirty="0">
                <a:solidFill>
                  <a:srgbClr val="5D6A64"/>
                </a:solidFill>
                <a:latin typeface="Inter" pitchFamily="34" charset="0"/>
                <a:ea typeface="Inter" pitchFamily="34" charset="-122"/>
                <a:cs typeface="Inter" pitchFamily="34" charset="-120"/>
              </a:rPr>
              <a:t>Evaluation function, Expectiminimax search, three difficulty levels</a:t>
            </a:r>
            <a:endParaRPr lang="en-US" sz="1500" dirty="0"/>
          </a:p>
        </p:txBody>
      </p:sp>
      <p:sp>
        <p:nvSpPr>
          <p:cNvPr id="11" name="Shape 9"/>
          <p:cNvSpPr/>
          <p:nvPr/>
        </p:nvSpPr>
        <p:spPr>
          <a:xfrm>
            <a:off x="640080" y="3566160"/>
            <a:ext cx="5349240" cy="1828800"/>
          </a:xfrm>
          <a:prstGeom prst="rect">
            <a:avLst/>
          </a:prstGeom>
          <a:solidFill>
            <a:srgbClr val="FBF8F1"/>
          </a:solidFill>
          <a:ln w="9525">
            <a:solidFill>
              <a:srgbClr val="E2DCCD"/>
            </a:solidFill>
            <a:prstDash val="solid"/>
          </a:ln>
        </p:spPr>
      </p:sp>
      <p:sp>
        <p:nvSpPr>
          <p:cNvPr id="12" name="Text 10"/>
          <p:cNvSpPr txBox="1"/>
          <p:nvPr/>
        </p:nvSpPr>
        <p:spPr>
          <a:xfrm>
            <a:off x="960120" y="3886200"/>
            <a:ext cx="4754880" cy="411480"/>
          </a:xfrm>
          <a:prstGeom prst="rect">
            <a:avLst/>
          </a:prstGeom>
          <a:noFill/>
          <a:ln/>
        </p:spPr>
        <p:txBody>
          <a:bodyPr wrap="square" lIns="0" tIns="0" rIns="0" bIns="0" rtlCol="0" anchor="ctr"/>
          <a:lstStyle/>
          <a:p>
            <a:pPr indent="0" marL="0">
              <a:buNone/>
            </a:pPr>
            <a:r>
              <a:rPr lang="en-US" sz="1800" b="1" dirty="0">
                <a:solidFill>
                  <a:srgbClr val="1D2521"/>
                </a:solidFill>
                <a:latin typeface="Courier New" pitchFamily="34" charset="0"/>
                <a:ea typeface="Courier New" pitchFamily="34" charset="-122"/>
                <a:cs typeface="Courier New" pitchFamily="34" charset="-120"/>
              </a:rPr>
              <a:t>gui.py + main.py</a:t>
            </a:r>
            <a:endParaRPr lang="en-US" sz="1800" dirty="0"/>
          </a:p>
        </p:txBody>
      </p:sp>
      <p:sp>
        <p:nvSpPr>
          <p:cNvPr id="13" name="Text 11"/>
          <p:cNvSpPr txBox="1"/>
          <p:nvPr/>
        </p:nvSpPr>
        <p:spPr>
          <a:xfrm>
            <a:off x="960120" y="4434840"/>
            <a:ext cx="4754880" cy="731520"/>
          </a:xfrm>
          <a:prstGeom prst="rect">
            <a:avLst/>
          </a:prstGeom>
          <a:noFill/>
          <a:ln/>
        </p:spPr>
        <p:txBody>
          <a:bodyPr wrap="square" lIns="0" tIns="0" rIns="0" bIns="0" rtlCol="0" anchor="t"/>
          <a:lstStyle/>
          <a:p>
            <a:pPr indent="0" marL="0">
              <a:buNone/>
            </a:pPr>
            <a:r>
              <a:rPr lang="en-US" sz="1500" dirty="0">
                <a:solidFill>
                  <a:srgbClr val="5D6A64"/>
                </a:solidFill>
                <a:latin typeface="Inter" pitchFamily="34" charset="0"/>
                <a:ea typeface="Inter" pitchFamily="34" charset="-122"/>
                <a:cs typeface="Inter" pitchFamily="34" charset="-120"/>
              </a:rPr>
              <a:t>Pygame interface, async loop so it runs in the browser</a:t>
            </a:r>
            <a:endParaRPr lang="en-US" sz="1500" dirty="0"/>
          </a:p>
        </p:txBody>
      </p:sp>
      <p:sp>
        <p:nvSpPr>
          <p:cNvPr id="14" name="Shape 12"/>
          <p:cNvSpPr/>
          <p:nvPr/>
        </p:nvSpPr>
        <p:spPr>
          <a:xfrm>
            <a:off x="6172200" y="3566160"/>
            <a:ext cx="5349240" cy="1828800"/>
          </a:xfrm>
          <a:prstGeom prst="rect">
            <a:avLst/>
          </a:prstGeom>
          <a:solidFill>
            <a:srgbClr val="FBF8F1"/>
          </a:solidFill>
          <a:ln w="9525">
            <a:solidFill>
              <a:srgbClr val="E2DCCD"/>
            </a:solidFill>
            <a:prstDash val="solid"/>
          </a:ln>
        </p:spPr>
      </p:sp>
      <p:sp>
        <p:nvSpPr>
          <p:cNvPr id="15" name="Text 13"/>
          <p:cNvSpPr txBox="1"/>
          <p:nvPr/>
        </p:nvSpPr>
        <p:spPr>
          <a:xfrm>
            <a:off x="6492240" y="3886200"/>
            <a:ext cx="4754880" cy="411480"/>
          </a:xfrm>
          <a:prstGeom prst="rect">
            <a:avLst/>
          </a:prstGeom>
          <a:noFill/>
          <a:ln/>
        </p:spPr>
        <p:txBody>
          <a:bodyPr wrap="square" lIns="0" tIns="0" rIns="0" bIns="0" rtlCol="0" anchor="ctr"/>
          <a:lstStyle/>
          <a:p>
            <a:pPr indent="0" marL="0">
              <a:buNone/>
            </a:pPr>
            <a:r>
              <a:rPr lang="en-US" sz="1800" b="1" dirty="0">
                <a:solidFill>
                  <a:srgbClr val="1D2521"/>
                </a:solidFill>
                <a:latin typeface="Courier New" pitchFamily="34" charset="0"/>
                <a:ea typeface="Courier New" pitchFamily="34" charset="-122"/>
                <a:cs typeface="Courier New" pitchFamily="34" charset="-120"/>
              </a:rPr>
              <a:t>experiments.py</a:t>
            </a:r>
            <a:endParaRPr lang="en-US" sz="1800" dirty="0"/>
          </a:p>
        </p:txBody>
      </p:sp>
      <p:sp>
        <p:nvSpPr>
          <p:cNvPr id="16" name="Text 14"/>
          <p:cNvSpPr txBox="1"/>
          <p:nvPr/>
        </p:nvSpPr>
        <p:spPr>
          <a:xfrm>
            <a:off x="6492240" y="4434840"/>
            <a:ext cx="4754880" cy="731520"/>
          </a:xfrm>
          <a:prstGeom prst="rect">
            <a:avLst/>
          </a:prstGeom>
          <a:noFill/>
          <a:ln/>
        </p:spPr>
        <p:txBody>
          <a:bodyPr wrap="square" lIns="0" tIns="0" rIns="0" bIns="0" rtlCol="0" anchor="t"/>
          <a:lstStyle/>
          <a:p>
            <a:pPr indent="0" marL="0">
              <a:buNone/>
            </a:pPr>
            <a:r>
              <a:rPr lang="en-US" sz="1500" dirty="0">
                <a:solidFill>
                  <a:srgbClr val="5D6A64"/>
                </a:solidFill>
                <a:latin typeface="Inter" pitchFamily="34" charset="0"/>
                <a:ea typeface="Inter" pitchFamily="34" charset="-122"/>
                <a:cs typeface="Inter" pitchFamily="34" charset="-120"/>
              </a:rPr>
              <a:t>500+ AI-vs-AI games, results table and charts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EFE4"/>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indent="0" marL="0">
              <a:buNone/>
            </a:pPr>
            <a:r>
              <a:rPr lang="en-US" sz="2800" b="1" dirty="0">
                <a:solidFill>
                  <a:srgbClr val="1D2521"/>
                </a:solidFill>
                <a:latin typeface="Space Grotesk" pitchFamily="34" charset="0"/>
                <a:ea typeface="Space Grotesk" pitchFamily="34" charset="-122"/>
                <a:cs typeface="Space Grotesk" pitchFamily="34" charset="-120"/>
              </a:rPr>
              <a:t>How the AI thinks: Expectiminimax</a:t>
            </a:r>
            <a:endParaRPr lang="en-US" sz="2800" dirty="0"/>
          </a:p>
        </p:txBody>
      </p:sp>
      <p:sp>
        <p:nvSpPr>
          <p:cNvPr id="3" name="Text 1"/>
          <p:cNvSpPr txBox="1"/>
          <p:nvPr/>
        </p:nvSpPr>
        <p:spPr>
          <a:xfrm>
            <a:off x="640080" y="6355080"/>
            <a:ext cx="7315200" cy="228600"/>
          </a:xfrm>
          <a:prstGeom prst="rect">
            <a:avLst/>
          </a:prstGeom>
          <a:noFill/>
          <a:ln/>
        </p:spPr>
        <p:txBody>
          <a:bodyPr wrap="square" lIns="0" tIns="0" rIns="0" bIns="0" rtlCol="0" anchor="ctr"/>
          <a:lstStyle/>
          <a:p>
            <a:pPr indent="0" marL="0">
              <a:buNone/>
            </a:pPr>
            <a:r>
              <a:rPr lang="en-US" sz="900" dirty="0">
                <a:solidFill>
                  <a:srgbClr val="5D6A64"/>
                </a:solidFill>
                <a:latin typeface="Inter" pitchFamily="34" charset="0"/>
                <a:ea typeface="Inter" pitchFamily="34" charset="-122"/>
                <a:cs typeface="Inter" pitchFamily="34" charset="-120"/>
              </a:rPr>
              <a:t>Krishna Mahajan (106wucww) · 5ENT1140 AI Principles</a:t>
            </a:r>
            <a:endParaRPr lang="en-US" sz="900" dirty="0"/>
          </a:p>
        </p:txBody>
      </p:sp>
      <p:sp>
        <p:nvSpPr>
          <p:cNvPr id="4" name="Text 2"/>
          <p:cNvSpPr txBox="1"/>
          <p:nvPr/>
        </p:nvSpPr>
        <p:spPr>
          <a:xfrm>
            <a:off x="10881360" y="6355080"/>
            <a:ext cx="640080" cy="228600"/>
          </a:xfrm>
          <a:prstGeom prst="rect">
            <a:avLst/>
          </a:prstGeom>
          <a:noFill/>
          <a:ln/>
        </p:spPr>
        <p:txBody>
          <a:bodyPr wrap="square" lIns="0" tIns="0" rIns="0" bIns="0" rtlCol="0" anchor="ctr"/>
          <a:lstStyle/>
          <a:p>
            <a:pPr algn="r" indent="0" marL="0">
              <a:buNone/>
            </a:pPr>
            <a:r>
              <a:rPr lang="en-US" sz="900" dirty="0">
                <a:solidFill>
                  <a:srgbClr val="5D6A64"/>
                </a:solidFill>
                <a:latin typeface="Inter" pitchFamily="34" charset="0"/>
                <a:ea typeface="Inter" pitchFamily="34" charset="-122"/>
                <a:cs typeface="Inter" pitchFamily="34" charset="-120"/>
              </a:rPr>
              <a:t>5</a:t>
            </a:r>
            <a:endParaRPr lang="en-US" sz="900" dirty="0"/>
          </a:p>
        </p:txBody>
      </p:sp>
      <p:sp>
        <p:nvSpPr>
          <p:cNvPr id="5" name="Shape 3"/>
          <p:cNvSpPr/>
          <p:nvPr/>
        </p:nvSpPr>
        <p:spPr>
          <a:xfrm>
            <a:off x="640080" y="1325880"/>
            <a:ext cx="10881360" cy="4160520"/>
          </a:xfrm>
          <a:prstGeom prst="rect">
            <a:avLst/>
          </a:prstGeom>
          <a:solidFill>
            <a:srgbClr val="FFFFFF"/>
          </a:solidFill>
          <a:ln w="12700">
            <a:solidFill>
              <a:srgbClr val="E2DCCD"/>
            </a:solidFill>
            <a:prstDash val="solid"/>
          </a:ln>
        </p:spPr>
      </p:sp>
      <p:pic>
        <p:nvPicPr>
          <p:cNvPr id="6" name="Image 0" descr="image-5-1.png">    </p:cNvPr>
          <p:cNvPicPr>
            <a:picLocks noChangeAspect="1"/>
          </p:cNvPicPr>
          <p:nvPr/>
        </p:nvPicPr>
        <p:blipFill>
          <a:blip r:embed="rId1"/>
          <a:stretch>
            <a:fillRect/>
          </a:stretch>
        </p:blipFill>
        <p:spPr>
          <a:xfrm>
            <a:off x="868680" y="1463040"/>
            <a:ext cx="10424160" cy="3877056"/>
          </a:xfrm>
          <a:prstGeom prst="rect">
            <a:avLst/>
          </a:prstGeom>
        </p:spPr>
      </p:pic>
      <p:sp>
        <p:nvSpPr>
          <p:cNvPr id="7" name="Text 4"/>
          <p:cNvSpPr txBox="1"/>
          <p:nvPr/>
        </p:nvSpPr>
        <p:spPr>
          <a:xfrm>
            <a:off x="640080" y="5669280"/>
            <a:ext cx="10881360" cy="365760"/>
          </a:xfrm>
          <a:prstGeom prst="rect">
            <a:avLst/>
          </a:prstGeom>
          <a:noFill/>
          <a:ln/>
        </p:spPr>
        <p:txBody>
          <a:bodyPr wrap="square" lIns="0" tIns="0" rIns="0" bIns="0" rtlCol="0" anchor="ctr"/>
          <a:lstStyle/>
          <a:p>
            <a:pPr indent="0" marL="0">
              <a:buNone/>
            </a:pPr>
            <a:r>
              <a:rPr lang="en-US" sz="1500" b="1" dirty="0">
                <a:solidFill>
                  <a:srgbClr val="1D2521"/>
                </a:solidFill>
                <a:latin typeface="Inter" pitchFamily="34" charset="0"/>
                <a:ea typeface="Inter" pitchFamily="34" charset="-122"/>
                <a:cs typeface="Inter" pitchFamily="34" charset="-120"/>
              </a:rPr>
              <a:t>MAX</a:t>
            </a:r>
            <a:pPr indent="0" marL="0">
              <a:buNone/>
            </a:pPr>
            <a:r>
              <a:rPr lang="en-US" sz="1500" dirty="0">
                <a:solidFill>
                  <a:srgbClr val="1D2521"/>
                </a:solidFill>
                <a:latin typeface="Inter" pitchFamily="34" charset="0"/>
                <a:ea typeface="Inter" pitchFamily="34" charset="-122"/>
                <a:cs typeface="Inter" pitchFamily="34" charset="-120"/>
              </a:rPr>
              <a:t> picks its best turn · </a:t>
            </a:r>
            <a:pPr indent="0" marL="0">
              <a:buNone/>
            </a:pPr>
            <a:r>
              <a:rPr lang="en-US" sz="1500" b="1" dirty="0">
                <a:solidFill>
                  <a:srgbClr val="1D2521"/>
                </a:solidFill>
                <a:latin typeface="Inter" pitchFamily="34" charset="0"/>
                <a:ea typeface="Inter" pitchFamily="34" charset="-122"/>
                <a:cs typeface="Inter" pitchFamily="34" charset="-120"/>
              </a:rPr>
              <a:t>CHANCE</a:t>
            </a:r>
            <a:pPr indent="0" marL="0">
              <a:buNone/>
            </a:pPr>
            <a:r>
              <a:rPr lang="en-US" sz="1500" dirty="0">
                <a:solidFill>
                  <a:srgbClr val="1D2521"/>
                </a:solidFill>
                <a:latin typeface="Inter" pitchFamily="34" charset="0"/>
                <a:ea typeface="Inter" pitchFamily="34" charset="-122"/>
                <a:cs typeface="Inter" pitchFamily="34" charset="-120"/>
              </a:rPr>
              <a:t> averages all 21 rolls by probability · </a:t>
            </a:r>
            <a:pPr indent="0" marL="0">
              <a:buNone/>
            </a:pPr>
            <a:r>
              <a:rPr lang="en-US" sz="1500" b="1" dirty="0">
                <a:solidFill>
                  <a:srgbClr val="1D2521"/>
                </a:solidFill>
                <a:latin typeface="Inter" pitchFamily="34" charset="0"/>
                <a:ea typeface="Inter" pitchFamily="34" charset="-122"/>
                <a:cs typeface="Inter" pitchFamily="34" charset="-120"/>
              </a:rPr>
              <a:t>MIN</a:t>
            </a:r>
            <a:pPr indent="0" marL="0">
              <a:buNone/>
            </a:pPr>
            <a:r>
              <a:rPr lang="en-US" sz="1500" dirty="0">
                <a:solidFill>
                  <a:srgbClr val="1D2521"/>
                </a:solidFill>
                <a:latin typeface="Inter" pitchFamily="34" charset="0"/>
                <a:ea typeface="Inter" pitchFamily="34" charset="-122"/>
                <a:cs typeface="Inter" pitchFamily="34" charset="-120"/>
              </a:rPr>
              <a:t> assumes the opponent's best reply</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302A"/>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indent="0" marL="0">
              <a:buNone/>
            </a:pPr>
            <a:r>
              <a:rPr lang="en-US" sz="2800" b="1" dirty="0">
                <a:solidFill>
                  <a:srgbClr val="F4EFE4"/>
                </a:solidFill>
                <a:latin typeface="Space Grotesk" pitchFamily="34" charset="0"/>
                <a:ea typeface="Space Grotesk" pitchFamily="34" charset="-122"/>
                <a:cs typeface="Space Grotesk" pitchFamily="34" charset="-120"/>
              </a:rPr>
              <a:t>Watch one real decision</a:t>
            </a:r>
            <a:endParaRPr lang="en-US" sz="2800" dirty="0"/>
          </a:p>
        </p:txBody>
      </p:sp>
      <p:sp>
        <p:nvSpPr>
          <p:cNvPr id="3" name="Text 1"/>
          <p:cNvSpPr txBox="1"/>
          <p:nvPr/>
        </p:nvSpPr>
        <p:spPr>
          <a:xfrm>
            <a:off x="640080" y="6355080"/>
            <a:ext cx="7315200" cy="228600"/>
          </a:xfrm>
          <a:prstGeom prst="rect">
            <a:avLst/>
          </a:prstGeom>
          <a:noFill/>
          <a:ln/>
        </p:spPr>
        <p:txBody>
          <a:bodyPr wrap="square" lIns="0" tIns="0" rIns="0" bIns="0" rtlCol="0" anchor="ctr"/>
          <a:lstStyle/>
          <a:p>
            <a:pPr indent="0" marL="0">
              <a:buNone/>
            </a:pPr>
            <a:r>
              <a:rPr lang="en-US" sz="900" dirty="0">
                <a:solidFill>
                  <a:srgbClr val="B5B1A9"/>
                </a:solidFill>
                <a:latin typeface="Inter" pitchFamily="34" charset="0"/>
                <a:ea typeface="Inter" pitchFamily="34" charset="-122"/>
                <a:cs typeface="Inter" pitchFamily="34" charset="-120"/>
              </a:rPr>
              <a:t>Krishna Mahajan (106wucww) · 5ENT1140 AI Principles</a:t>
            </a:r>
            <a:endParaRPr lang="en-US" sz="900" dirty="0"/>
          </a:p>
        </p:txBody>
      </p:sp>
      <p:sp>
        <p:nvSpPr>
          <p:cNvPr id="4" name="Text 2"/>
          <p:cNvSpPr txBox="1"/>
          <p:nvPr/>
        </p:nvSpPr>
        <p:spPr>
          <a:xfrm>
            <a:off x="10881360" y="6355080"/>
            <a:ext cx="640080" cy="228600"/>
          </a:xfrm>
          <a:prstGeom prst="rect">
            <a:avLst/>
          </a:prstGeom>
          <a:noFill/>
          <a:ln/>
        </p:spPr>
        <p:txBody>
          <a:bodyPr wrap="square" lIns="0" tIns="0" rIns="0" bIns="0" rtlCol="0" anchor="ctr"/>
          <a:lstStyle/>
          <a:p>
            <a:pPr algn="r" indent="0" marL="0">
              <a:buNone/>
            </a:pPr>
            <a:r>
              <a:rPr lang="en-US" sz="900" dirty="0">
                <a:solidFill>
                  <a:srgbClr val="B5B1A9"/>
                </a:solidFill>
                <a:latin typeface="Inter" pitchFamily="34" charset="0"/>
                <a:ea typeface="Inter" pitchFamily="34" charset="-122"/>
                <a:cs typeface="Inter" pitchFamily="34" charset="-120"/>
              </a:rPr>
              <a:t>6</a:t>
            </a:r>
            <a:endParaRPr lang="en-US" sz="9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640080" y="1280160"/>
            <a:ext cx="7589520" cy="4416552"/>
          </a:xfrm>
          <a:prstGeom prst="rect">
            <a:avLst/>
          </a:prstGeom>
        </p:spPr>
      </p:pic>
      <p:sp>
        <p:nvSpPr>
          <p:cNvPr id="6" name="Shape 3"/>
          <p:cNvSpPr/>
          <p:nvPr/>
        </p:nvSpPr>
        <p:spPr>
          <a:xfrm>
            <a:off x="8549640" y="1371600"/>
            <a:ext cx="73152" cy="1097280"/>
          </a:xfrm>
          <a:prstGeom prst="rect">
            <a:avLst/>
          </a:prstGeom>
          <a:solidFill>
            <a:srgbClr val="D9A13B"/>
          </a:solidFill>
          <a:ln w="12700">
            <a:solidFill>
              <a:srgbClr val="D9A13B"/>
            </a:solidFill>
            <a:prstDash val="solid"/>
          </a:ln>
        </p:spPr>
      </p:sp>
      <p:sp>
        <p:nvSpPr>
          <p:cNvPr id="7" name="Text 4"/>
          <p:cNvSpPr txBox="1"/>
          <p:nvPr/>
        </p:nvSpPr>
        <p:spPr>
          <a:xfrm>
            <a:off x="8823960" y="1417320"/>
            <a:ext cx="2743200" cy="411480"/>
          </a:xfrm>
          <a:prstGeom prst="rect">
            <a:avLst/>
          </a:prstGeom>
          <a:noFill/>
          <a:ln/>
        </p:spPr>
        <p:txBody>
          <a:bodyPr wrap="square" lIns="0" tIns="0" rIns="0" bIns="0" rtlCol="0" anchor="ctr"/>
          <a:lstStyle/>
          <a:p>
            <a:pPr indent="0" marL="0">
              <a:buNone/>
            </a:pPr>
            <a:r>
              <a:rPr lang="en-US" sz="2000" b="1" dirty="0">
                <a:solidFill>
                  <a:srgbClr val="D9A13B"/>
                </a:solidFill>
                <a:latin typeface="Space Grotesk" pitchFamily="34" charset="0"/>
                <a:ea typeface="Space Grotesk" pitchFamily="34" charset="-122"/>
                <a:cs typeface="Space Grotesk" pitchFamily="34" charset="-120"/>
              </a:rPr>
              <a:t>MAX</a:t>
            </a:r>
            <a:endParaRPr lang="en-US" sz="2000" dirty="0"/>
          </a:p>
        </p:txBody>
      </p:sp>
      <p:sp>
        <p:nvSpPr>
          <p:cNvPr id="8" name="Text 5"/>
          <p:cNvSpPr txBox="1"/>
          <p:nvPr/>
        </p:nvSpPr>
        <p:spPr>
          <a:xfrm>
            <a:off x="8823960" y="1874520"/>
            <a:ext cx="2743200" cy="548640"/>
          </a:xfrm>
          <a:prstGeom prst="rect">
            <a:avLst/>
          </a:prstGeom>
          <a:noFill/>
          <a:ln/>
        </p:spPr>
        <p:txBody>
          <a:bodyPr wrap="square" lIns="0" tIns="0" rIns="0" bIns="0" rtlCol="0" anchor="t"/>
          <a:lstStyle/>
          <a:p>
            <a:pPr indent="0" marL="0">
              <a:buNone/>
            </a:pPr>
            <a:r>
              <a:rPr lang="en-US" sz="1400" dirty="0">
                <a:solidFill>
                  <a:srgbClr val="DFE7E2"/>
                </a:solidFill>
                <a:latin typeface="Inter" pitchFamily="34" charset="0"/>
                <a:ea typeface="Inter" pitchFamily="34" charset="-122"/>
                <a:cs typeface="Inter" pitchFamily="34" charset="-120"/>
              </a:rPr>
              <a:t>AI's turn: take the best value</a:t>
            </a:r>
            <a:endParaRPr lang="en-US" sz="1400" dirty="0"/>
          </a:p>
        </p:txBody>
      </p:sp>
      <p:sp>
        <p:nvSpPr>
          <p:cNvPr id="9" name="Shape 6"/>
          <p:cNvSpPr/>
          <p:nvPr/>
        </p:nvSpPr>
        <p:spPr>
          <a:xfrm>
            <a:off x="8549640" y="2788920"/>
            <a:ext cx="73152" cy="1097280"/>
          </a:xfrm>
          <a:prstGeom prst="rect">
            <a:avLst/>
          </a:prstGeom>
          <a:solidFill>
            <a:srgbClr val="4E9F92"/>
          </a:solidFill>
          <a:ln w="12700">
            <a:solidFill>
              <a:srgbClr val="4E9F92"/>
            </a:solidFill>
            <a:prstDash val="solid"/>
          </a:ln>
        </p:spPr>
      </p:sp>
      <p:sp>
        <p:nvSpPr>
          <p:cNvPr id="10" name="Text 7"/>
          <p:cNvSpPr txBox="1"/>
          <p:nvPr/>
        </p:nvSpPr>
        <p:spPr>
          <a:xfrm>
            <a:off x="8823960" y="2834640"/>
            <a:ext cx="2743200" cy="411480"/>
          </a:xfrm>
          <a:prstGeom prst="rect">
            <a:avLst/>
          </a:prstGeom>
          <a:noFill/>
          <a:ln/>
        </p:spPr>
        <p:txBody>
          <a:bodyPr wrap="square" lIns="0" tIns="0" rIns="0" bIns="0" rtlCol="0" anchor="ctr"/>
          <a:lstStyle/>
          <a:p>
            <a:pPr indent="0" marL="0">
              <a:buNone/>
            </a:pPr>
            <a:r>
              <a:rPr lang="en-US" sz="2000" b="1" dirty="0">
                <a:solidFill>
                  <a:srgbClr val="4E9F92"/>
                </a:solidFill>
                <a:latin typeface="Space Grotesk" pitchFamily="34" charset="0"/>
                <a:ea typeface="Space Grotesk" pitchFamily="34" charset="-122"/>
                <a:cs typeface="Space Grotesk" pitchFamily="34" charset="-120"/>
              </a:rPr>
              <a:t>CHANCE</a:t>
            </a:r>
            <a:endParaRPr lang="en-US" sz="2000" dirty="0"/>
          </a:p>
        </p:txBody>
      </p:sp>
      <p:sp>
        <p:nvSpPr>
          <p:cNvPr id="11" name="Text 8"/>
          <p:cNvSpPr txBox="1"/>
          <p:nvPr/>
        </p:nvSpPr>
        <p:spPr>
          <a:xfrm>
            <a:off x="8823960" y="3291840"/>
            <a:ext cx="2743200" cy="548640"/>
          </a:xfrm>
          <a:prstGeom prst="rect">
            <a:avLst/>
          </a:prstGeom>
          <a:noFill/>
          <a:ln/>
        </p:spPr>
        <p:txBody>
          <a:bodyPr wrap="square" lIns="0" tIns="0" rIns="0" bIns="0" rtlCol="0" anchor="t"/>
          <a:lstStyle/>
          <a:p>
            <a:pPr indent="0" marL="0">
              <a:buNone/>
            </a:pPr>
            <a:r>
              <a:rPr lang="en-US" sz="1400" dirty="0">
                <a:solidFill>
                  <a:srgbClr val="DFE7E2"/>
                </a:solidFill>
                <a:latin typeface="Inter" pitchFamily="34" charset="0"/>
                <a:ea typeface="Inter" pitchFamily="34" charset="-122"/>
                <a:cs typeface="Inter" pitchFamily="34" charset="-120"/>
              </a:rPr>
              <a:t>Σ P(roll) × value over all 21 rolls</a:t>
            </a:r>
            <a:endParaRPr lang="en-US" sz="1400" dirty="0"/>
          </a:p>
        </p:txBody>
      </p:sp>
      <p:sp>
        <p:nvSpPr>
          <p:cNvPr id="12" name="Shape 9"/>
          <p:cNvSpPr/>
          <p:nvPr/>
        </p:nvSpPr>
        <p:spPr>
          <a:xfrm>
            <a:off x="8549640" y="4206240"/>
            <a:ext cx="73152" cy="1097280"/>
          </a:xfrm>
          <a:prstGeom prst="rect">
            <a:avLst/>
          </a:prstGeom>
          <a:solidFill>
            <a:srgbClr val="E07A6A"/>
          </a:solidFill>
          <a:ln w="12700">
            <a:solidFill>
              <a:srgbClr val="E07A6A"/>
            </a:solidFill>
            <a:prstDash val="solid"/>
          </a:ln>
        </p:spPr>
      </p:sp>
      <p:sp>
        <p:nvSpPr>
          <p:cNvPr id="13" name="Text 10"/>
          <p:cNvSpPr txBox="1"/>
          <p:nvPr/>
        </p:nvSpPr>
        <p:spPr>
          <a:xfrm>
            <a:off x="8823960" y="4251960"/>
            <a:ext cx="2743200" cy="411480"/>
          </a:xfrm>
          <a:prstGeom prst="rect">
            <a:avLst/>
          </a:prstGeom>
          <a:noFill/>
          <a:ln/>
        </p:spPr>
        <p:txBody>
          <a:bodyPr wrap="square" lIns="0" tIns="0" rIns="0" bIns="0" rtlCol="0" anchor="ctr"/>
          <a:lstStyle/>
          <a:p>
            <a:pPr indent="0" marL="0">
              <a:buNone/>
            </a:pPr>
            <a:r>
              <a:rPr lang="en-US" sz="2000" b="1" dirty="0">
                <a:solidFill>
                  <a:srgbClr val="E07A6A"/>
                </a:solidFill>
                <a:latin typeface="Space Grotesk" pitchFamily="34" charset="0"/>
                <a:ea typeface="Space Grotesk" pitchFamily="34" charset="-122"/>
                <a:cs typeface="Space Grotesk" pitchFamily="34" charset="-120"/>
              </a:rPr>
              <a:t>MIN</a:t>
            </a:r>
            <a:endParaRPr lang="en-US" sz="2000" dirty="0"/>
          </a:p>
        </p:txBody>
      </p:sp>
      <p:sp>
        <p:nvSpPr>
          <p:cNvPr id="14" name="Text 11"/>
          <p:cNvSpPr txBox="1"/>
          <p:nvPr/>
        </p:nvSpPr>
        <p:spPr>
          <a:xfrm>
            <a:off x="8823960" y="4709160"/>
            <a:ext cx="2743200" cy="548640"/>
          </a:xfrm>
          <a:prstGeom prst="rect">
            <a:avLst/>
          </a:prstGeom>
          <a:noFill/>
          <a:ln/>
        </p:spPr>
        <p:txBody>
          <a:bodyPr wrap="square" lIns="0" tIns="0" rIns="0" bIns="0" rtlCol="0" anchor="t"/>
          <a:lstStyle/>
          <a:p>
            <a:pPr indent="0" marL="0">
              <a:buNone/>
            </a:pPr>
            <a:r>
              <a:rPr lang="en-US" sz="1400" dirty="0">
                <a:solidFill>
                  <a:srgbClr val="DFE7E2"/>
                </a:solidFill>
                <a:latin typeface="Inter" pitchFamily="34" charset="0"/>
                <a:ea typeface="Inter" pitchFamily="34" charset="-122"/>
                <a:cs typeface="Inter" pitchFamily="34" charset="-120"/>
              </a:rPr>
              <a:t>Opponent's best reply</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EFE4"/>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indent="0" marL="0">
              <a:buNone/>
            </a:pPr>
            <a:r>
              <a:rPr lang="en-US" sz="2800" b="1" dirty="0">
                <a:solidFill>
                  <a:srgbClr val="1D2521"/>
                </a:solidFill>
                <a:latin typeface="Space Grotesk" pitchFamily="34" charset="0"/>
                <a:ea typeface="Space Grotesk" pitchFamily="34" charset="-122"/>
                <a:cs typeface="Space Grotesk" pitchFamily="34" charset="-120"/>
              </a:rPr>
              <a:t>Scoring a position</a:t>
            </a:r>
            <a:endParaRPr lang="en-US" sz="2800" dirty="0"/>
          </a:p>
        </p:txBody>
      </p:sp>
      <p:sp>
        <p:nvSpPr>
          <p:cNvPr id="3" name="Text 1"/>
          <p:cNvSpPr txBox="1"/>
          <p:nvPr/>
        </p:nvSpPr>
        <p:spPr>
          <a:xfrm>
            <a:off x="640080" y="6355080"/>
            <a:ext cx="7315200" cy="228600"/>
          </a:xfrm>
          <a:prstGeom prst="rect">
            <a:avLst/>
          </a:prstGeom>
          <a:noFill/>
          <a:ln/>
        </p:spPr>
        <p:txBody>
          <a:bodyPr wrap="square" lIns="0" tIns="0" rIns="0" bIns="0" rtlCol="0" anchor="ctr"/>
          <a:lstStyle/>
          <a:p>
            <a:pPr indent="0" marL="0">
              <a:buNone/>
            </a:pPr>
            <a:r>
              <a:rPr lang="en-US" sz="900" dirty="0">
                <a:solidFill>
                  <a:srgbClr val="5D6A64"/>
                </a:solidFill>
                <a:latin typeface="Inter" pitchFamily="34" charset="0"/>
                <a:ea typeface="Inter" pitchFamily="34" charset="-122"/>
                <a:cs typeface="Inter" pitchFamily="34" charset="-120"/>
              </a:rPr>
              <a:t>Krishna Mahajan (106wucww) · 5ENT1140 AI Principles</a:t>
            </a:r>
            <a:endParaRPr lang="en-US" sz="900" dirty="0"/>
          </a:p>
        </p:txBody>
      </p:sp>
      <p:sp>
        <p:nvSpPr>
          <p:cNvPr id="4" name="Text 2"/>
          <p:cNvSpPr txBox="1"/>
          <p:nvPr/>
        </p:nvSpPr>
        <p:spPr>
          <a:xfrm>
            <a:off x="10881360" y="6355080"/>
            <a:ext cx="640080" cy="228600"/>
          </a:xfrm>
          <a:prstGeom prst="rect">
            <a:avLst/>
          </a:prstGeom>
          <a:noFill/>
          <a:ln/>
        </p:spPr>
        <p:txBody>
          <a:bodyPr wrap="square" lIns="0" tIns="0" rIns="0" bIns="0" rtlCol="0" anchor="ctr"/>
          <a:lstStyle/>
          <a:p>
            <a:pPr algn="r" indent="0" marL="0">
              <a:buNone/>
            </a:pPr>
            <a:r>
              <a:rPr lang="en-US" sz="900" dirty="0">
                <a:solidFill>
                  <a:srgbClr val="5D6A64"/>
                </a:solidFill>
                <a:latin typeface="Inter" pitchFamily="34" charset="0"/>
                <a:ea typeface="Inter" pitchFamily="34" charset="-122"/>
                <a:cs typeface="Inter" pitchFamily="34" charset="-120"/>
              </a:rPr>
              <a:t>7</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10881360" cy="914400"/>
        </p:xfrm>
        <a:graphic>
          <a:graphicData uri="http://schemas.openxmlformats.org/drawingml/2006/table">
            <a:tbl>
              <a:tblPr/>
              <a:tblGrid>
                <a:gridCol w="3474720"/>
                <a:gridCol w="2377440"/>
                <a:gridCol w="5029200"/>
              </a:tblGrid>
              <a:tr h="475488">
                <a:tc>
                  <a:txBody>
                    <a:bodyPr/>
                    <a:lstStyle/>
                    <a:p>
                      <a:pPr indent="0" marL="0">
                        <a:buNone/>
                      </a:pPr>
                      <a:r>
                        <a:rPr lang="en-US" sz="1500" b="1" dirty="0">
                          <a:solidFill>
                            <a:srgbClr val="5D6A64"/>
                          </a:solidFill>
                          <a:latin typeface="Inter" pitchFamily="34" charset="0"/>
                          <a:ea typeface="Inter" pitchFamily="34" charset="-122"/>
                          <a:cs typeface="Inter" pitchFamily="34" charset="-120"/>
                        </a:rPr>
                        <a:t>Feature</a:t>
                      </a:r>
                      <a:endParaRPr lang="en-US" sz="1500" dirty="0">
                        <a:latin typeface="Inter" charset="0"/>
                        <a:ea typeface="Inter" charset="0"/>
                        <a:cs typeface="Inter" charset="0"/>
                      </a:endParaRPr>
                    </a:p>
                  </a:txBody>
                  <a:tcPr marL="127000" marR="127000" marT="50800" marB="50800" anchor="ctr">
                    <a:lnL w="9525" cap="flat" cmpd="sng" algn="ctr">
                      <a:solidFill>
                        <a:srgbClr val="E2DCCD"/>
                      </a:solidFill>
                      <a:prstDash val="solid"/>
                      <a:round/>
                      <a:headEnd type="none" w="med" len="med"/>
                      <a:tailEnd type="none" w="med" len="med"/>
                    </a:lnL>
                    <a:lnR w="9525" cap="flat" cmpd="sng" algn="ctr">
                      <a:solidFill>
                        <a:srgbClr val="E2DCCD"/>
                      </a:solidFill>
                      <a:prstDash val="solid"/>
                      <a:round/>
                      <a:headEnd type="none" w="med" len="med"/>
                      <a:tailEnd type="none" w="med" len="med"/>
                    </a:lnR>
                    <a:lnT w="9525" cap="flat" cmpd="sng" algn="ctr">
                      <a:solidFill>
                        <a:srgbClr val="E2DCCD"/>
                      </a:solidFill>
                      <a:prstDash val="solid"/>
                      <a:round/>
                      <a:headEnd type="none" w="med" len="med"/>
                      <a:tailEnd type="none" w="med" len="med"/>
                    </a:lnT>
                    <a:lnB w="9525" cap="flat" cmpd="sng" algn="ctr">
                      <a:solidFill>
                        <a:srgbClr val="E2DCCD"/>
                      </a:solidFill>
                      <a:prstDash val="solid"/>
                      <a:round/>
                      <a:headEnd type="none" w="med" len="med"/>
                      <a:tailEnd type="none" w="med" len="med"/>
                    </a:lnB>
                    <a:solidFill>
                      <a:srgbClr val="E2DCCD"/>
                    </a:solidFill>
                  </a:tcPr>
                </a:tc>
                <a:tc>
                  <a:txBody>
                    <a:bodyPr/>
                    <a:lstStyle/>
                    <a:p>
                      <a:pPr indent="0" marL="0">
                        <a:buNone/>
                      </a:pPr>
                      <a:r>
                        <a:rPr lang="en-US" sz="1500" b="1" dirty="0">
                          <a:solidFill>
                            <a:srgbClr val="5D6A64"/>
                          </a:solidFill>
                          <a:latin typeface="Inter" pitchFamily="34" charset="0"/>
                          <a:ea typeface="Inter" pitchFamily="34" charset="-122"/>
                          <a:cs typeface="Inter" pitchFamily="34" charset="-120"/>
                        </a:rPr>
                        <a:t>Weight</a:t>
                      </a:r>
                      <a:endParaRPr lang="en-US" sz="1500" dirty="0">
                        <a:latin typeface="Inter" charset="0"/>
                        <a:ea typeface="Inter" charset="0"/>
                        <a:cs typeface="Inter" charset="0"/>
                      </a:endParaRPr>
                    </a:p>
                  </a:txBody>
                  <a:tcPr marL="127000" marR="127000" marT="50800" marB="50800" anchor="ctr">
                    <a:lnL w="9525" cap="flat" cmpd="sng" algn="ctr">
                      <a:solidFill>
                        <a:srgbClr val="E2DCCD"/>
                      </a:solidFill>
                      <a:prstDash val="solid"/>
                      <a:round/>
                      <a:headEnd type="none" w="med" len="med"/>
                      <a:tailEnd type="none" w="med" len="med"/>
                    </a:lnL>
                    <a:lnR w="9525" cap="flat" cmpd="sng" algn="ctr">
                      <a:solidFill>
                        <a:srgbClr val="E2DCCD"/>
                      </a:solidFill>
                      <a:prstDash val="solid"/>
                      <a:round/>
                      <a:headEnd type="none" w="med" len="med"/>
                      <a:tailEnd type="none" w="med" len="med"/>
                    </a:lnR>
                    <a:lnT w="9525" cap="flat" cmpd="sng" algn="ctr">
                      <a:solidFill>
                        <a:srgbClr val="E2DCCD"/>
                      </a:solidFill>
                      <a:prstDash val="solid"/>
                      <a:round/>
                      <a:headEnd type="none" w="med" len="med"/>
                      <a:tailEnd type="none" w="med" len="med"/>
                    </a:lnT>
                    <a:lnB w="9525" cap="flat" cmpd="sng" algn="ctr">
                      <a:solidFill>
                        <a:srgbClr val="E2DCCD"/>
                      </a:solidFill>
                      <a:prstDash val="solid"/>
                      <a:round/>
                      <a:headEnd type="none" w="med" len="med"/>
                      <a:tailEnd type="none" w="med" len="med"/>
                    </a:lnB>
                    <a:solidFill>
                      <a:srgbClr val="E2DCCD"/>
                    </a:solidFill>
                  </a:tcPr>
                </a:tc>
                <a:tc>
                  <a:txBody>
                    <a:bodyPr/>
                    <a:lstStyle/>
                    <a:p>
                      <a:pPr indent="0" marL="0">
                        <a:buNone/>
                      </a:pPr>
                      <a:r>
                        <a:rPr lang="en-US" sz="1500" b="1" dirty="0">
                          <a:solidFill>
                            <a:srgbClr val="5D6A64"/>
                          </a:solidFill>
                          <a:latin typeface="Inter" pitchFamily="34" charset="0"/>
                          <a:ea typeface="Inter" pitchFamily="34" charset="-122"/>
                          <a:cs typeface="Inter" pitchFamily="34" charset="-120"/>
                        </a:rPr>
                        <a:t>Why</a:t>
                      </a:r>
                      <a:endParaRPr lang="en-US" sz="1500" dirty="0">
                        <a:latin typeface="Inter" charset="0"/>
                        <a:ea typeface="Inter" charset="0"/>
                        <a:cs typeface="Inter" charset="0"/>
                      </a:endParaRPr>
                    </a:p>
                  </a:txBody>
                  <a:tcPr marL="127000" marR="127000" marT="50800" marB="50800" anchor="ctr">
                    <a:lnL w="9525" cap="flat" cmpd="sng" algn="ctr">
                      <a:solidFill>
                        <a:srgbClr val="E2DCCD"/>
                      </a:solidFill>
                      <a:prstDash val="solid"/>
                      <a:round/>
                      <a:headEnd type="none" w="med" len="med"/>
                      <a:tailEnd type="none" w="med" len="med"/>
                    </a:lnL>
                    <a:lnR w="9525" cap="flat" cmpd="sng" algn="ctr">
                      <a:solidFill>
                        <a:srgbClr val="E2DCCD"/>
                      </a:solidFill>
                      <a:prstDash val="solid"/>
                      <a:round/>
                      <a:headEnd type="none" w="med" len="med"/>
                      <a:tailEnd type="none" w="med" len="med"/>
                    </a:lnR>
                    <a:lnT w="9525" cap="flat" cmpd="sng" algn="ctr">
                      <a:solidFill>
                        <a:srgbClr val="E2DCCD"/>
                      </a:solidFill>
                      <a:prstDash val="solid"/>
                      <a:round/>
                      <a:headEnd type="none" w="med" len="med"/>
                      <a:tailEnd type="none" w="med" len="med"/>
                    </a:lnT>
                    <a:lnB w="9525" cap="flat" cmpd="sng" algn="ctr">
                      <a:solidFill>
                        <a:srgbClr val="E2DCCD"/>
                      </a:solidFill>
                      <a:prstDash val="solid"/>
                      <a:round/>
                      <a:headEnd type="none" w="med" len="med"/>
                      <a:tailEnd type="none" w="med" len="med"/>
                    </a:lnB>
                    <a:solidFill>
                      <a:srgbClr val="E2DCCD"/>
                    </a:solidFill>
                  </a:tcPr>
                </a:tc>
              </a:tr>
              <a:tr h="475488">
                <a:tc>
                  <a:txBody>
                    <a:bodyPr/>
                    <a:lstStyle/>
                    <a:p>
                      <a:pPr indent="0" marL="0">
                        <a:buNone/>
                      </a:pPr>
                      <a:r>
                        <a:rPr lang="en-US" sz="1500" dirty="0">
                          <a:solidFill>
                            <a:srgbClr val="1D2521"/>
                          </a:solidFill>
                          <a:latin typeface="Inter" pitchFamily="34" charset="0"/>
                          <a:ea typeface="Inter" pitchFamily="34" charset="-122"/>
                          <a:cs typeface="Inter" pitchFamily="34" charset="-120"/>
                        </a:rPr>
                        <a:t>Pip-count lead</a:t>
                      </a:r>
                      <a:endParaRPr lang="en-US" sz="1500" dirty="0">
                        <a:latin typeface="Inter" charset="0"/>
                        <a:ea typeface="Inter" charset="0"/>
                        <a:cs typeface="Inter" charset="0"/>
                      </a:endParaRPr>
                    </a:p>
                  </a:txBody>
                  <a:tcPr marL="127000" marR="127000" marT="50800" marB="50800" anchor="ctr">
                    <a:lnL w="9525" cap="flat" cmpd="sng" algn="ctr">
                      <a:solidFill>
                        <a:srgbClr val="E2DCCD"/>
                      </a:solidFill>
                      <a:prstDash val="solid"/>
                      <a:round/>
                      <a:headEnd type="none" w="med" len="med"/>
                      <a:tailEnd type="none" w="med" len="med"/>
                    </a:lnL>
                    <a:lnR w="9525" cap="flat" cmpd="sng" algn="ctr">
                      <a:solidFill>
                        <a:srgbClr val="E2DCCD"/>
                      </a:solidFill>
                      <a:prstDash val="solid"/>
                      <a:round/>
                      <a:headEnd type="none" w="med" len="med"/>
                      <a:tailEnd type="none" w="med" len="med"/>
                    </a:lnR>
                    <a:lnT w="9525" cap="flat" cmpd="sng" algn="ctr">
                      <a:solidFill>
                        <a:srgbClr val="E2DCCD"/>
                      </a:solidFill>
                      <a:prstDash val="solid"/>
                      <a:round/>
                      <a:headEnd type="none" w="med" len="med"/>
                      <a:tailEnd type="none" w="med" len="med"/>
                    </a:lnT>
                    <a:lnB w="9525" cap="flat" cmpd="sng" algn="ctr">
                      <a:solidFill>
                        <a:srgbClr val="E2DCCD"/>
                      </a:solidFill>
                      <a:prstDash val="solid"/>
                      <a:round/>
                      <a:headEnd type="none" w="med" len="med"/>
                      <a:tailEnd type="none" w="med" len="med"/>
                    </a:lnB>
                    <a:solidFill>
                      <a:srgbClr val="FBF8F1"/>
                    </a:solidFill>
                  </a:tcPr>
                </a:tc>
                <a:tc>
                  <a:txBody>
                    <a:bodyPr/>
                    <a:lstStyle/>
                    <a:p>
                      <a:pPr indent="0" marL="0">
                        <a:buNone/>
                      </a:pPr>
                      <a:r>
                        <a:rPr lang="en-US" sz="1500" dirty="0">
                          <a:solidFill>
                            <a:srgbClr val="1D2521"/>
                          </a:solidFill>
                          <a:latin typeface="Inter" pitchFamily="34" charset="0"/>
                          <a:ea typeface="Inter" pitchFamily="34" charset="-122"/>
                          <a:cs typeface="Inter" pitchFamily="34" charset="-120"/>
                        </a:rPr>
                        <a:t>+1 per pip</a:t>
                      </a:r>
                      <a:endParaRPr lang="en-US" sz="1500" dirty="0">
                        <a:latin typeface="Inter" charset="0"/>
                        <a:ea typeface="Inter" charset="0"/>
                        <a:cs typeface="Inter" charset="0"/>
                      </a:endParaRPr>
                    </a:p>
                  </a:txBody>
                  <a:tcPr marL="127000" marR="127000" marT="50800" marB="50800" anchor="ctr">
                    <a:lnL w="9525" cap="flat" cmpd="sng" algn="ctr">
                      <a:solidFill>
                        <a:srgbClr val="E2DCCD"/>
                      </a:solidFill>
                      <a:prstDash val="solid"/>
                      <a:round/>
                      <a:headEnd type="none" w="med" len="med"/>
                      <a:tailEnd type="none" w="med" len="med"/>
                    </a:lnL>
                    <a:lnR w="9525" cap="flat" cmpd="sng" algn="ctr">
                      <a:solidFill>
                        <a:srgbClr val="E2DCCD"/>
                      </a:solidFill>
                      <a:prstDash val="solid"/>
                      <a:round/>
                      <a:headEnd type="none" w="med" len="med"/>
                      <a:tailEnd type="none" w="med" len="med"/>
                    </a:lnR>
                    <a:lnT w="9525" cap="flat" cmpd="sng" algn="ctr">
                      <a:solidFill>
                        <a:srgbClr val="E2DCCD"/>
                      </a:solidFill>
                      <a:prstDash val="solid"/>
                      <a:round/>
                      <a:headEnd type="none" w="med" len="med"/>
                      <a:tailEnd type="none" w="med" len="med"/>
                    </a:lnT>
                    <a:lnB w="9525" cap="flat" cmpd="sng" algn="ctr">
                      <a:solidFill>
                        <a:srgbClr val="E2DCCD"/>
                      </a:solidFill>
                      <a:prstDash val="solid"/>
                      <a:round/>
                      <a:headEnd type="none" w="med" len="med"/>
                      <a:tailEnd type="none" w="med" len="med"/>
                    </a:lnB>
                    <a:solidFill>
                      <a:srgbClr val="FBF8F1"/>
                    </a:solidFill>
                  </a:tcPr>
                </a:tc>
                <a:tc>
                  <a:txBody>
                    <a:bodyPr/>
                    <a:lstStyle/>
                    <a:p>
                      <a:pPr indent="0" marL="0">
                        <a:buNone/>
                      </a:pPr>
                      <a:r>
                        <a:rPr lang="en-US" sz="1500" dirty="0">
                          <a:solidFill>
                            <a:srgbClr val="1D2521"/>
                          </a:solidFill>
                          <a:latin typeface="Inter" pitchFamily="34" charset="0"/>
                          <a:ea typeface="Inter" pitchFamily="34" charset="-122"/>
                          <a:cs typeface="Inter" pitchFamily="34" charset="-120"/>
                        </a:rPr>
                        <a:t>Ahead in the race</a:t>
                      </a:r>
                      <a:endParaRPr lang="en-US" sz="1500" dirty="0">
                        <a:latin typeface="Inter" charset="0"/>
                        <a:ea typeface="Inter" charset="0"/>
                        <a:cs typeface="Inter" charset="0"/>
                      </a:endParaRPr>
                    </a:p>
                  </a:txBody>
                  <a:tcPr marL="127000" marR="127000" marT="50800" marB="50800" anchor="ctr">
                    <a:lnL w="9525" cap="flat" cmpd="sng" algn="ctr">
                      <a:solidFill>
                        <a:srgbClr val="E2DCCD"/>
                      </a:solidFill>
                      <a:prstDash val="solid"/>
                      <a:round/>
                      <a:headEnd type="none" w="med" len="med"/>
                      <a:tailEnd type="none" w="med" len="med"/>
                    </a:lnL>
                    <a:lnR w="9525" cap="flat" cmpd="sng" algn="ctr">
                      <a:solidFill>
                        <a:srgbClr val="E2DCCD"/>
                      </a:solidFill>
                      <a:prstDash val="solid"/>
                      <a:round/>
                      <a:headEnd type="none" w="med" len="med"/>
                      <a:tailEnd type="none" w="med" len="med"/>
                    </a:lnR>
                    <a:lnT w="9525" cap="flat" cmpd="sng" algn="ctr">
                      <a:solidFill>
                        <a:srgbClr val="E2DCCD"/>
                      </a:solidFill>
                      <a:prstDash val="solid"/>
                      <a:round/>
                      <a:headEnd type="none" w="med" len="med"/>
                      <a:tailEnd type="none" w="med" len="med"/>
                    </a:lnT>
                    <a:lnB w="9525" cap="flat" cmpd="sng" algn="ctr">
                      <a:solidFill>
                        <a:srgbClr val="E2DCCD"/>
                      </a:solidFill>
                      <a:prstDash val="solid"/>
                      <a:round/>
                      <a:headEnd type="none" w="med" len="med"/>
                      <a:tailEnd type="none" w="med" len="med"/>
                    </a:lnB>
                    <a:solidFill>
                      <a:srgbClr val="FBF8F1"/>
                    </a:solidFill>
                  </a:tcPr>
                </a:tc>
              </a:tr>
              <a:tr h="475488">
                <a:tc>
                  <a:txBody>
                    <a:bodyPr/>
                    <a:lstStyle/>
                    <a:p>
                      <a:pPr indent="0" marL="0">
                        <a:buNone/>
                      </a:pPr>
                      <a:r>
                        <a:rPr lang="en-US" sz="1500" dirty="0">
                          <a:solidFill>
                            <a:srgbClr val="1D2521"/>
                          </a:solidFill>
                          <a:latin typeface="Inter" pitchFamily="34" charset="0"/>
                          <a:ea typeface="Inter" pitchFamily="34" charset="-122"/>
                          <a:cs typeface="Inter" pitchFamily="34" charset="-120"/>
                        </a:rPr>
                        <a:t>Opponent on the bar</a:t>
                      </a:r>
                      <a:endParaRPr lang="en-US" sz="1500" dirty="0">
                        <a:latin typeface="Inter" charset="0"/>
                        <a:ea typeface="Inter" charset="0"/>
                        <a:cs typeface="Inter" charset="0"/>
                      </a:endParaRPr>
                    </a:p>
                  </a:txBody>
                  <a:tcPr marL="127000" marR="127000" marT="50800" marB="50800" anchor="ctr">
                    <a:lnL w="9525" cap="flat" cmpd="sng" algn="ctr">
                      <a:solidFill>
                        <a:srgbClr val="E2DCCD"/>
                      </a:solidFill>
                      <a:prstDash val="solid"/>
                      <a:round/>
                      <a:headEnd type="none" w="med" len="med"/>
                      <a:tailEnd type="none" w="med" len="med"/>
                    </a:lnL>
                    <a:lnR w="9525" cap="flat" cmpd="sng" algn="ctr">
                      <a:solidFill>
                        <a:srgbClr val="E2DCCD"/>
                      </a:solidFill>
                      <a:prstDash val="solid"/>
                      <a:round/>
                      <a:headEnd type="none" w="med" len="med"/>
                      <a:tailEnd type="none" w="med" len="med"/>
                    </a:lnR>
                    <a:lnT w="9525" cap="flat" cmpd="sng" algn="ctr">
                      <a:solidFill>
                        <a:srgbClr val="E2DCCD"/>
                      </a:solidFill>
                      <a:prstDash val="solid"/>
                      <a:round/>
                      <a:headEnd type="none" w="med" len="med"/>
                      <a:tailEnd type="none" w="med" len="med"/>
                    </a:lnT>
                    <a:lnB w="9525" cap="flat" cmpd="sng" algn="ctr">
                      <a:solidFill>
                        <a:srgbClr val="E2DCCD"/>
                      </a:solidFill>
                      <a:prstDash val="solid"/>
                      <a:round/>
                      <a:headEnd type="none" w="med" len="med"/>
                      <a:tailEnd type="none" w="med" len="med"/>
                    </a:lnB>
                    <a:solidFill>
                      <a:srgbClr val="FBF8F1"/>
                    </a:solidFill>
                  </a:tcPr>
                </a:tc>
                <a:tc>
                  <a:txBody>
                    <a:bodyPr/>
                    <a:lstStyle/>
                    <a:p>
                      <a:pPr indent="0" marL="0">
                        <a:buNone/>
                      </a:pPr>
                      <a:r>
                        <a:rPr lang="en-US" sz="1500" dirty="0">
                          <a:solidFill>
                            <a:srgbClr val="1D2521"/>
                          </a:solidFill>
                          <a:latin typeface="Inter" pitchFamily="34" charset="0"/>
                          <a:ea typeface="Inter" pitchFamily="34" charset="-122"/>
                          <a:cs typeface="Inter" pitchFamily="34" charset="-120"/>
                        </a:rPr>
                        <a:t>+8 each</a:t>
                      </a:r>
                      <a:endParaRPr lang="en-US" sz="1500" dirty="0">
                        <a:latin typeface="Inter" charset="0"/>
                        <a:ea typeface="Inter" charset="0"/>
                        <a:cs typeface="Inter" charset="0"/>
                      </a:endParaRPr>
                    </a:p>
                  </a:txBody>
                  <a:tcPr marL="127000" marR="127000" marT="50800" marB="50800" anchor="ctr">
                    <a:lnL w="9525" cap="flat" cmpd="sng" algn="ctr">
                      <a:solidFill>
                        <a:srgbClr val="E2DCCD"/>
                      </a:solidFill>
                      <a:prstDash val="solid"/>
                      <a:round/>
                      <a:headEnd type="none" w="med" len="med"/>
                      <a:tailEnd type="none" w="med" len="med"/>
                    </a:lnL>
                    <a:lnR w="9525" cap="flat" cmpd="sng" algn="ctr">
                      <a:solidFill>
                        <a:srgbClr val="E2DCCD"/>
                      </a:solidFill>
                      <a:prstDash val="solid"/>
                      <a:round/>
                      <a:headEnd type="none" w="med" len="med"/>
                      <a:tailEnd type="none" w="med" len="med"/>
                    </a:lnR>
                    <a:lnT w="9525" cap="flat" cmpd="sng" algn="ctr">
                      <a:solidFill>
                        <a:srgbClr val="E2DCCD"/>
                      </a:solidFill>
                      <a:prstDash val="solid"/>
                      <a:round/>
                      <a:headEnd type="none" w="med" len="med"/>
                      <a:tailEnd type="none" w="med" len="med"/>
                    </a:lnT>
                    <a:lnB w="9525" cap="flat" cmpd="sng" algn="ctr">
                      <a:solidFill>
                        <a:srgbClr val="E2DCCD"/>
                      </a:solidFill>
                      <a:prstDash val="solid"/>
                      <a:round/>
                      <a:headEnd type="none" w="med" len="med"/>
                      <a:tailEnd type="none" w="med" len="med"/>
                    </a:lnB>
                    <a:solidFill>
                      <a:srgbClr val="FBF8F1"/>
                    </a:solidFill>
                  </a:tcPr>
                </a:tc>
                <a:tc>
                  <a:txBody>
                    <a:bodyPr/>
                    <a:lstStyle/>
                    <a:p>
                      <a:pPr indent="0" marL="0">
                        <a:buNone/>
                      </a:pPr>
                      <a:r>
                        <a:rPr lang="en-US" sz="1500" dirty="0">
                          <a:solidFill>
                            <a:srgbClr val="1D2521"/>
                          </a:solidFill>
                          <a:latin typeface="Inter" pitchFamily="34" charset="0"/>
                          <a:ea typeface="Inter" pitchFamily="34" charset="-122"/>
                          <a:cs typeface="Inter" pitchFamily="34" charset="-120"/>
                        </a:rPr>
                        <a:t>Hitting costs them tempo</a:t>
                      </a:r>
                      <a:endParaRPr lang="en-US" sz="1500" dirty="0">
                        <a:latin typeface="Inter" charset="0"/>
                        <a:ea typeface="Inter" charset="0"/>
                        <a:cs typeface="Inter" charset="0"/>
                      </a:endParaRPr>
                    </a:p>
                  </a:txBody>
                  <a:tcPr marL="127000" marR="127000" marT="50800" marB="50800" anchor="ctr">
                    <a:lnL w="9525" cap="flat" cmpd="sng" algn="ctr">
                      <a:solidFill>
                        <a:srgbClr val="E2DCCD"/>
                      </a:solidFill>
                      <a:prstDash val="solid"/>
                      <a:round/>
                      <a:headEnd type="none" w="med" len="med"/>
                      <a:tailEnd type="none" w="med" len="med"/>
                    </a:lnL>
                    <a:lnR w="9525" cap="flat" cmpd="sng" algn="ctr">
                      <a:solidFill>
                        <a:srgbClr val="E2DCCD"/>
                      </a:solidFill>
                      <a:prstDash val="solid"/>
                      <a:round/>
                      <a:headEnd type="none" w="med" len="med"/>
                      <a:tailEnd type="none" w="med" len="med"/>
                    </a:lnR>
                    <a:lnT w="9525" cap="flat" cmpd="sng" algn="ctr">
                      <a:solidFill>
                        <a:srgbClr val="E2DCCD"/>
                      </a:solidFill>
                      <a:prstDash val="solid"/>
                      <a:round/>
                      <a:headEnd type="none" w="med" len="med"/>
                      <a:tailEnd type="none" w="med" len="med"/>
                    </a:lnT>
                    <a:lnB w="9525" cap="flat" cmpd="sng" algn="ctr">
                      <a:solidFill>
                        <a:srgbClr val="E2DCCD"/>
                      </a:solidFill>
                      <a:prstDash val="solid"/>
                      <a:round/>
                      <a:headEnd type="none" w="med" len="med"/>
                      <a:tailEnd type="none" w="med" len="med"/>
                    </a:lnB>
                    <a:solidFill>
                      <a:srgbClr val="FBF8F1"/>
                    </a:solidFill>
                  </a:tcPr>
                </a:tc>
              </a:tr>
              <a:tr h="475488">
                <a:tc>
                  <a:txBody>
                    <a:bodyPr/>
                    <a:lstStyle/>
                    <a:p>
                      <a:pPr indent="0" marL="0">
                        <a:buNone/>
                      </a:pPr>
                      <a:r>
                        <a:rPr lang="en-US" sz="1500" dirty="0">
                          <a:solidFill>
                            <a:srgbClr val="1D2521"/>
                          </a:solidFill>
                          <a:latin typeface="Inter" pitchFamily="34" charset="0"/>
                          <a:ea typeface="Inter" pitchFamily="34" charset="-122"/>
                          <a:cs typeface="Inter" pitchFamily="34" charset="-120"/>
                        </a:rPr>
                        <a:t>Made points</a:t>
                      </a:r>
                      <a:endParaRPr lang="en-US" sz="1500" dirty="0">
                        <a:latin typeface="Inter" charset="0"/>
                        <a:ea typeface="Inter" charset="0"/>
                        <a:cs typeface="Inter" charset="0"/>
                      </a:endParaRPr>
                    </a:p>
                  </a:txBody>
                  <a:tcPr marL="127000" marR="127000" marT="50800" marB="50800" anchor="ctr">
                    <a:lnL w="9525" cap="flat" cmpd="sng" algn="ctr">
                      <a:solidFill>
                        <a:srgbClr val="E2DCCD"/>
                      </a:solidFill>
                      <a:prstDash val="solid"/>
                      <a:round/>
                      <a:headEnd type="none" w="med" len="med"/>
                      <a:tailEnd type="none" w="med" len="med"/>
                    </a:lnL>
                    <a:lnR w="9525" cap="flat" cmpd="sng" algn="ctr">
                      <a:solidFill>
                        <a:srgbClr val="E2DCCD"/>
                      </a:solidFill>
                      <a:prstDash val="solid"/>
                      <a:round/>
                      <a:headEnd type="none" w="med" len="med"/>
                      <a:tailEnd type="none" w="med" len="med"/>
                    </a:lnR>
                    <a:lnT w="9525" cap="flat" cmpd="sng" algn="ctr">
                      <a:solidFill>
                        <a:srgbClr val="E2DCCD"/>
                      </a:solidFill>
                      <a:prstDash val="solid"/>
                      <a:round/>
                      <a:headEnd type="none" w="med" len="med"/>
                      <a:tailEnd type="none" w="med" len="med"/>
                    </a:lnT>
                    <a:lnB w="9525" cap="flat" cmpd="sng" algn="ctr">
                      <a:solidFill>
                        <a:srgbClr val="E2DCCD"/>
                      </a:solidFill>
                      <a:prstDash val="solid"/>
                      <a:round/>
                      <a:headEnd type="none" w="med" len="med"/>
                      <a:tailEnd type="none" w="med" len="med"/>
                    </a:lnB>
                    <a:solidFill>
                      <a:srgbClr val="FBF8F1"/>
                    </a:solidFill>
                  </a:tcPr>
                </a:tc>
                <a:tc>
                  <a:txBody>
                    <a:bodyPr/>
                    <a:lstStyle/>
                    <a:p>
                      <a:pPr indent="0" marL="0">
                        <a:buNone/>
                      </a:pPr>
                      <a:r>
                        <a:rPr lang="en-US" sz="1500" dirty="0">
                          <a:solidFill>
                            <a:srgbClr val="1D2521"/>
                          </a:solidFill>
                          <a:latin typeface="Inter" pitchFamily="34" charset="0"/>
                          <a:ea typeface="Inter" pitchFamily="34" charset="-122"/>
                          <a:cs typeface="Inter" pitchFamily="34" charset="-120"/>
                        </a:rPr>
                        <a:t>+2 (+3 home)</a:t>
                      </a:r>
                      <a:endParaRPr lang="en-US" sz="1500" dirty="0">
                        <a:latin typeface="Inter" charset="0"/>
                        <a:ea typeface="Inter" charset="0"/>
                        <a:cs typeface="Inter" charset="0"/>
                      </a:endParaRPr>
                    </a:p>
                  </a:txBody>
                  <a:tcPr marL="127000" marR="127000" marT="50800" marB="50800" anchor="ctr">
                    <a:lnL w="9525" cap="flat" cmpd="sng" algn="ctr">
                      <a:solidFill>
                        <a:srgbClr val="E2DCCD"/>
                      </a:solidFill>
                      <a:prstDash val="solid"/>
                      <a:round/>
                      <a:headEnd type="none" w="med" len="med"/>
                      <a:tailEnd type="none" w="med" len="med"/>
                    </a:lnL>
                    <a:lnR w="9525" cap="flat" cmpd="sng" algn="ctr">
                      <a:solidFill>
                        <a:srgbClr val="E2DCCD"/>
                      </a:solidFill>
                      <a:prstDash val="solid"/>
                      <a:round/>
                      <a:headEnd type="none" w="med" len="med"/>
                      <a:tailEnd type="none" w="med" len="med"/>
                    </a:lnR>
                    <a:lnT w="9525" cap="flat" cmpd="sng" algn="ctr">
                      <a:solidFill>
                        <a:srgbClr val="E2DCCD"/>
                      </a:solidFill>
                      <a:prstDash val="solid"/>
                      <a:round/>
                      <a:headEnd type="none" w="med" len="med"/>
                      <a:tailEnd type="none" w="med" len="med"/>
                    </a:lnT>
                    <a:lnB w="9525" cap="flat" cmpd="sng" algn="ctr">
                      <a:solidFill>
                        <a:srgbClr val="E2DCCD"/>
                      </a:solidFill>
                      <a:prstDash val="solid"/>
                      <a:round/>
                      <a:headEnd type="none" w="med" len="med"/>
                      <a:tailEnd type="none" w="med" len="med"/>
                    </a:lnB>
                    <a:solidFill>
                      <a:srgbClr val="FBF8F1"/>
                    </a:solidFill>
                  </a:tcPr>
                </a:tc>
                <a:tc>
                  <a:txBody>
                    <a:bodyPr/>
                    <a:lstStyle/>
                    <a:p>
                      <a:pPr indent="0" marL="0">
                        <a:buNone/>
                      </a:pPr>
                      <a:r>
                        <a:rPr lang="en-US" sz="1500" dirty="0">
                          <a:solidFill>
                            <a:srgbClr val="1D2521"/>
                          </a:solidFill>
                          <a:latin typeface="Inter" pitchFamily="34" charset="0"/>
                          <a:ea typeface="Inter" pitchFamily="34" charset="-122"/>
                          <a:cs typeface="Inter" pitchFamily="34" charset="-120"/>
                        </a:rPr>
                        <a:t>Blocks and traps the opponent</a:t>
                      </a:r>
                      <a:endParaRPr lang="en-US" sz="1500" dirty="0">
                        <a:latin typeface="Inter" charset="0"/>
                        <a:ea typeface="Inter" charset="0"/>
                        <a:cs typeface="Inter" charset="0"/>
                      </a:endParaRPr>
                    </a:p>
                  </a:txBody>
                  <a:tcPr marL="127000" marR="127000" marT="50800" marB="50800" anchor="ctr">
                    <a:lnL w="9525" cap="flat" cmpd="sng" algn="ctr">
                      <a:solidFill>
                        <a:srgbClr val="E2DCCD"/>
                      </a:solidFill>
                      <a:prstDash val="solid"/>
                      <a:round/>
                      <a:headEnd type="none" w="med" len="med"/>
                      <a:tailEnd type="none" w="med" len="med"/>
                    </a:lnL>
                    <a:lnR w="9525" cap="flat" cmpd="sng" algn="ctr">
                      <a:solidFill>
                        <a:srgbClr val="E2DCCD"/>
                      </a:solidFill>
                      <a:prstDash val="solid"/>
                      <a:round/>
                      <a:headEnd type="none" w="med" len="med"/>
                      <a:tailEnd type="none" w="med" len="med"/>
                    </a:lnR>
                    <a:lnT w="9525" cap="flat" cmpd="sng" algn="ctr">
                      <a:solidFill>
                        <a:srgbClr val="E2DCCD"/>
                      </a:solidFill>
                      <a:prstDash val="solid"/>
                      <a:round/>
                      <a:headEnd type="none" w="med" len="med"/>
                      <a:tailEnd type="none" w="med" len="med"/>
                    </a:lnT>
                    <a:lnB w="9525" cap="flat" cmpd="sng" algn="ctr">
                      <a:solidFill>
                        <a:srgbClr val="E2DCCD"/>
                      </a:solidFill>
                      <a:prstDash val="solid"/>
                      <a:round/>
                      <a:headEnd type="none" w="med" len="med"/>
                      <a:tailEnd type="none" w="med" len="med"/>
                    </a:lnB>
                    <a:solidFill>
                      <a:srgbClr val="FBF8F1"/>
                    </a:solidFill>
                  </a:tcPr>
                </a:tc>
              </a:tr>
              <a:tr h="475488">
                <a:tc>
                  <a:txBody>
                    <a:bodyPr/>
                    <a:lstStyle/>
                    <a:p>
                      <a:pPr indent="0" marL="0">
                        <a:buNone/>
                      </a:pPr>
                      <a:r>
                        <a:rPr lang="en-US" sz="1500" dirty="0">
                          <a:solidFill>
                            <a:srgbClr val="1D2521"/>
                          </a:solidFill>
                          <a:latin typeface="Inter" pitchFamily="34" charset="0"/>
                          <a:ea typeface="Inter" pitchFamily="34" charset="-122"/>
                          <a:cs typeface="Inter" pitchFamily="34" charset="-120"/>
                        </a:rPr>
                        <a:t>Checkers borne off</a:t>
                      </a:r>
                      <a:endParaRPr lang="en-US" sz="1500" dirty="0">
                        <a:latin typeface="Inter" charset="0"/>
                        <a:ea typeface="Inter" charset="0"/>
                        <a:cs typeface="Inter" charset="0"/>
                      </a:endParaRPr>
                    </a:p>
                  </a:txBody>
                  <a:tcPr marL="127000" marR="127000" marT="50800" marB="50800" anchor="ctr">
                    <a:lnL w="9525" cap="flat" cmpd="sng" algn="ctr">
                      <a:solidFill>
                        <a:srgbClr val="E2DCCD"/>
                      </a:solidFill>
                      <a:prstDash val="solid"/>
                      <a:round/>
                      <a:headEnd type="none" w="med" len="med"/>
                      <a:tailEnd type="none" w="med" len="med"/>
                    </a:lnL>
                    <a:lnR w="9525" cap="flat" cmpd="sng" algn="ctr">
                      <a:solidFill>
                        <a:srgbClr val="E2DCCD"/>
                      </a:solidFill>
                      <a:prstDash val="solid"/>
                      <a:round/>
                      <a:headEnd type="none" w="med" len="med"/>
                      <a:tailEnd type="none" w="med" len="med"/>
                    </a:lnR>
                    <a:lnT w="9525" cap="flat" cmpd="sng" algn="ctr">
                      <a:solidFill>
                        <a:srgbClr val="E2DCCD"/>
                      </a:solidFill>
                      <a:prstDash val="solid"/>
                      <a:round/>
                      <a:headEnd type="none" w="med" len="med"/>
                      <a:tailEnd type="none" w="med" len="med"/>
                    </a:lnT>
                    <a:lnB w="9525" cap="flat" cmpd="sng" algn="ctr">
                      <a:solidFill>
                        <a:srgbClr val="E2DCCD"/>
                      </a:solidFill>
                      <a:prstDash val="solid"/>
                      <a:round/>
                      <a:headEnd type="none" w="med" len="med"/>
                      <a:tailEnd type="none" w="med" len="med"/>
                    </a:lnB>
                    <a:solidFill>
                      <a:srgbClr val="FBF8F1"/>
                    </a:solidFill>
                  </a:tcPr>
                </a:tc>
                <a:tc>
                  <a:txBody>
                    <a:bodyPr/>
                    <a:lstStyle/>
                    <a:p>
                      <a:pPr indent="0" marL="0">
                        <a:buNone/>
                      </a:pPr>
                      <a:r>
                        <a:rPr lang="en-US" sz="1500" dirty="0">
                          <a:solidFill>
                            <a:srgbClr val="1D2521"/>
                          </a:solidFill>
                          <a:latin typeface="Inter" pitchFamily="34" charset="0"/>
                          <a:ea typeface="Inter" pitchFamily="34" charset="-122"/>
                          <a:cs typeface="Inter" pitchFamily="34" charset="-120"/>
                        </a:rPr>
                        <a:t>+3 each</a:t>
                      </a:r>
                      <a:endParaRPr lang="en-US" sz="1500" dirty="0">
                        <a:latin typeface="Inter" charset="0"/>
                        <a:ea typeface="Inter" charset="0"/>
                        <a:cs typeface="Inter" charset="0"/>
                      </a:endParaRPr>
                    </a:p>
                  </a:txBody>
                  <a:tcPr marL="127000" marR="127000" marT="50800" marB="50800" anchor="ctr">
                    <a:lnL w="9525" cap="flat" cmpd="sng" algn="ctr">
                      <a:solidFill>
                        <a:srgbClr val="E2DCCD"/>
                      </a:solidFill>
                      <a:prstDash val="solid"/>
                      <a:round/>
                      <a:headEnd type="none" w="med" len="med"/>
                      <a:tailEnd type="none" w="med" len="med"/>
                    </a:lnL>
                    <a:lnR w="9525" cap="flat" cmpd="sng" algn="ctr">
                      <a:solidFill>
                        <a:srgbClr val="E2DCCD"/>
                      </a:solidFill>
                      <a:prstDash val="solid"/>
                      <a:round/>
                      <a:headEnd type="none" w="med" len="med"/>
                      <a:tailEnd type="none" w="med" len="med"/>
                    </a:lnR>
                    <a:lnT w="9525" cap="flat" cmpd="sng" algn="ctr">
                      <a:solidFill>
                        <a:srgbClr val="E2DCCD"/>
                      </a:solidFill>
                      <a:prstDash val="solid"/>
                      <a:round/>
                      <a:headEnd type="none" w="med" len="med"/>
                      <a:tailEnd type="none" w="med" len="med"/>
                    </a:lnT>
                    <a:lnB w="9525" cap="flat" cmpd="sng" algn="ctr">
                      <a:solidFill>
                        <a:srgbClr val="E2DCCD"/>
                      </a:solidFill>
                      <a:prstDash val="solid"/>
                      <a:round/>
                      <a:headEnd type="none" w="med" len="med"/>
                      <a:tailEnd type="none" w="med" len="med"/>
                    </a:lnB>
                    <a:solidFill>
                      <a:srgbClr val="FBF8F1"/>
                    </a:solidFill>
                  </a:tcPr>
                </a:tc>
                <a:tc>
                  <a:txBody>
                    <a:bodyPr/>
                    <a:lstStyle/>
                    <a:p>
                      <a:pPr indent="0" marL="0">
                        <a:buNone/>
                      </a:pPr>
                      <a:r>
                        <a:rPr lang="en-US" sz="1500" dirty="0">
                          <a:solidFill>
                            <a:srgbClr val="1D2521"/>
                          </a:solidFill>
                          <a:latin typeface="Inter" pitchFamily="34" charset="0"/>
                          <a:ea typeface="Inter" pitchFamily="34" charset="-122"/>
                          <a:cs typeface="Inter" pitchFamily="34" charset="-120"/>
                        </a:rPr>
                        <a:t>Direct progress to winning</a:t>
                      </a:r>
                      <a:endParaRPr lang="en-US" sz="1500" dirty="0">
                        <a:latin typeface="Inter" charset="0"/>
                        <a:ea typeface="Inter" charset="0"/>
                        <a:cs typeface="Inter" charset="0"/>
                      </a:endParaRPr>
                    </a:p>
                  </a:txBody>
                  <a:tcPr marL="127000" marR="127000" marT="50800" marB="50800" anchor="ctr">
                    <a:lnL w="9525" cap="flat" cmpd="sng" algn="ctr">
                      <a:solidFill>
                        <a:srgbClr val="E2DCCD"/>
                      </a:solidFill>
                      <a:prstDash val="solid"/>
                      <a:round/>
                      <a:headEnd type="none" w="med" len="med"/>
                      <a:tailEnd type="none" w="med" len="med"/>
                    </a:lnL>
                    <a:lnR w="9525" cap="flat" cmpd="sng" algn="ctr">
                      <a:solidFill>
                        <a:srgbClr val="E2DCCD"/>
                      </a:solidFill>
                      <a:prstDash val="solid"/>
                      <a:round/>
                      <a:headEnd type="none" w="med" len="med"/>
                      <a:tailEnd type="none" w="med" len="med"/>
                    </a:lnR>
                    <a:lnT w="9525" cap="flat" cmpd="sng" algn="ctr">
                      <a:solidFill>
                        <a:srgbClr val="E2DCCD"/>
                      </a:solidFill>
                      <a:prstDash val="solid"/>
                      <a:round/>
                      <a:headEnd type="none" w="med" len="med"/>
                      <a:tailEnd type="none" w="med" len="med"/>
                    </a:lnT>
                    <a:lnB w="9525" cap="flat" cmpd="sng" algn="ctr">
                      <a:solidFill>
                        <a:srgbClr val="E2DCCD"/>
                      </a:solidFill>
                      <a:prstDash val="solid"/>
                      <a:round/>
                      <a:headEnd type="none" w="med" len="med"/>
                      <a:tailEnd type="none" w="med" len="med"/>
                    </a:lnB>
                    <a:solidFill>
                      <a:srgbClr val="FBF8F1"/>
                    </a:solidFill>
                  </a:tcPr>
                </a:tc>
              </a:tr>
              <a:tr h="475488">
                <a:tc>
                  <a:txBody>
                    <a:bodyPr/>
                    <a:lstStyle/>
                    <a:p>
                      <a:pPr indent="0" marL="0">
                        <a:buNone/>
                      </a:pPr>
                      <a:r>
                        <a:rPr lang="en-US" sz="1500" dirty="0">
                          <a:solidFill>
                            <a:srgbClr val="1D2521"/>
                          </a:solidFill>
                          <a:latin typeface="Inter" pitchFamily="34" charset="0"/>
                          <a:ea typeface="Inter" pitchFamily="34" charset="-122"/>
                          <a:cs typeface="Inter" pitchFamily="34" charset="-120"/>
                        </a:rPr>
                        <a:t>Exposed blot</a:t>
                      </a:r>
                      <a:endParaRPr lang="en-US" sz="1500" dirty="0">
                        <a:latin typeface="Inter" charset="0"/>
                        <a:ea typeface="Inter" charset="0"/>
                        <a:cs typeface="Inter" charset="0"/>
                      </a:endParaRPr>
                    </a:p>
                  </a:txBody>
                  <a:tcPr marL="127000" marR="127000" marT="50800" marB="50800" anchor="ctr">
                    <a:lnL w="9525" cap="flat" cmpd="sng" algn="ctr">
                      <a:solidFill>
                        <a:srgbClr val="E2DCCD"/>
                      </a:solidFill>
                      <a:prstDash val="solid"/>
                      <a:round/>
                      <a:headEnd type="none" w="med" len="med"/>
                      <a:tailEnd type="none" w="med" len="med"/>
                    </a:lnL>
                    <a:lnR w="9525" cap="flat" cmpd="sng" algn="ctr">
                      <a:solidFill>
                        <a:srgbClr val="E2DCCD"/>
                      </a:solidFill>
                      <a:prstDash val="solid"/>
                      <a:round/>
                      <a:headEnd type="none" w="med" len="med"/>
                      <a:tailEnd type="none" w="med" len="med"/>
                    </a:lnR>
                    <a:lnT w="9525" cap="flat" cmpd="sng" algn="ctr">
                      <a:solidFill>
                        <a:srgbClr val="E2DCCD"/>
                      </a:solidFill>
                      <a:prstDash val="solid"/>
                      <a:round/>
                      <a:headEnd type="none" w="med" len="med"/>
                      <a:tailEnd type="none" w="med" len="med"/>
                    </a:lnT>
                    <a:lnB w="9525" cap="flat" cmpd="sng" algn="ctr">
                      <a:solidFill>
                        <a:srgbClr val="E2DCCD"/>
                      </a:solidFill>
                      <a:prstDash val="solid"/>
                      <a:round/>
                      <a:headEnd type="none" w="med" len="med"/>
                      <a:tailEnd type="none" w="med" len="med"/>
                    </a:lnB>
                    <a:solidFill>
                      <a:srgbClr val="FBF8F1"/>
                    </a:solidFill>
                  </a:tcPr>
                </a:tc>
                <a:tc>
                  <a:txBody>
                    <a:bodyPr/>
                    <a:lstStyle/>
                    <a:p>
                      <a:pPr indent="0" marL="0">
                        <a:buNone/>
                      </a:pPr>
                      <a:r>
                        <a:rPr lang="en-US" sz="1500" dirty="0">
                          <a:solidFill>
                            <a:srgbClr val="B5443D"/>
                          </a:solidFill>
                          <a:latin typeface="Inter" pitchFamily="34" charset="0"/>
                          <a:ea typeface="Inter" pitchFamily="34" charset="-122"/>
                          <a:cs typeface="Inter" pitchFamily="34" charset="-120"/>
                        </a:rPr>
                        <a:t>−4 each</a:t>
                      </a:r>
                      <a:endParaRPr lang="en-US" sz="1500" dirty="0">
                        <a:latin typeface="Inter" charset="0"/>
                        <a:ea typeface="Inter" charset="0"/>
                        <a:cs typeface="Inter" charset="0"/>
                      </a:endParaRPr>
                    </a:p>
                  </a:txBody>
                  <a:tcPr marL="127000" marR="127000" marT="50800" marB="50800" anchor="ctr">
                    <a:lnL w="9525" cap="flat" cmpd="sng" algn="ctr">
                      <a:solidFill>
                        <a:srgbClr val="E2DCCD"/>
                      </a:solidFill>
                      <a:prstDash val="solid"/>
                      <a:round/>
                      <a:headEnd type="none" w="med" len="med"/>
                      <a:tailEnd type="none" w="med" len="med"/>
                    </a:lnL>
                    <a:lnR w="9525" cap="flat" cmpd="sng" algn="ctr">
                      <a:solidFill>
                        <a:srgbClr val="E2DCCD"/>
                      </a:solidFill>
                      <a:prstDash val="solid"/>
                      <a:round/>
                      <a:headEnd type="none" w="med" len="med"/>
                      <a:tailEnd type="none" w="med" len="med"/>
                    </a:lnR>
                    <a:lnT w="9525" cap="flat" cmpd="sng" algn="ctr">
                      <a:solidFill>
                        <a:srgbClr val="E2DCCD"/>
                      </a:solidFill>
                      <a:prstDash val="solid"/>
                      <a:round/>
                      <a:headEnd type="none" w="med" len="med"/>
                      <a:tailEnd type="none" w="med" len="med"/>
                    </a:lnT>
                    <a:lnB w="9525" cap="flat" cmpd="sng" algn="ctr">
                      <a:solidFill>
                        <a:srgbClr val="E2DCCD"/>
                      </a:solidFill>
                      <a:prstDash val="solid"/>
                      <a:round/>
                      <a:headEnd type="none" w="med" len="med"/>
                      <a:tailEnd type="none" w="med" len="med"/>
                    </a:lnB>
                    <a:solidFill>
                      <a:srgbClr val="FBF8F1"/>
                    </a:solidFill>
                  </a:tcPr>
                </a:tc>
                <a:tc>
                  <a:txBody>
                    <a:bodyPr/>
                    <a:lstStyle/>
                    <a:p>
                      <a:pPr indent="0" marL="0">
                        <a:buNone/>
                      </a:pPr>
                      <a:r>
                        <a:rPr lang="en-US" sz="1500" dirty="0">
                          <a:solidFill>
                            <a:srgbClr val="1D2521"/>
                          </a:solidFill>
                          <a:latin typeface="Inter" pitchFamily="34" charset="0"/>
                          <a:ea typeface="Inter" pitchFamily="34" charset="-122"/>
                          <a:cs typeface="Inter" pitchFamily="34" charset="-120"/>
                        </a:rPr>
                        <a:t>Risk of being hit</a:t>
                      </a:r>
                      <a:endParaRPr lang="en-US" sz="1500" dirty="0">
                        <a:latin typeface="Inter" charset="0"/>
                        <a:ea typeface="Inter" charset="0"/>
                        <a:cs typeface="Inter" charset="0"/>
                      </a:endParaRPr>
                    </a:p>
                  </a:txBody>
                  <a:tcPr marL="127000" marR="127000" marT="50800" marB="50800" anchor="ctr">
                    <a:lnL w="9525" cap="flat" cmpd="sng" algn="ctr">
                      <a:solidFill>
                        <a:srgbClr val="E2DCCD"/>
                      </a:solidFill>
                      <a:prstDash val="solid"/>
                      <a:round/>
                      <a:headEnd type="none" w="med" len="med"/>
                      <a:tailEnd type="none" w="med" len="med"/>
                    </a:lnL>
                    <a:lnR w="9525" cap="flat" cmpd="sng" algn="ctr">
                      <a:solidFill>
                        <a:srgbClr val="E2DCCD"/>
                      </a:solidFill>
                      <a:prstDash val="solid"/>
                      <a:round/>
                      <a:headEnd type="none" w="med" len="med"/>
                      <a:tailEnd type="none" w="med" len="med"/>
                    </a:lnR>
                    <a:lnT w="9525" cap="flat" cmpd="sng" algn="ctr">
                      <a:solidFill>
                        <a:srgbClr val="E2DCCD"/>
                      </a:solidFill>
                      <a:prstDash val="solid"/>
                      <a:round/>
                      <a:headEnd type="none" w="med" len="med"/>
                      <a:tailEnd type="none" w="med" len="med"/>
                    </a:lnT>
                    <a:lnB w="9525" cap="flat" cmpd="sng" algn="ctr">
                      <a:solidFill>
                        <a:srgbClr val="E2DCCD"/>
                      </a:solidFill>
                      <a:prstDash val="solid"/>
                      <a:round/>
                      <a:headEnd type="none" w="med" len="med"/>
                      <a:tailEnd type="none" w="med" len="med"/>
                    </a:lnB>
                    <a:solidFill>
                      <a:srgbClr val="FBF8F1"/>
                    </a:solidFill>
                  </a:tcPr>
                </a:tc>
              </a:tr>
              <a:tr h="475488">
                <a:tc>
                  <a:txBody>
                    <a:bodyPr/>
                    <a:lstStyle/>
                    <a:p>
                      <a:pPr indent="0" marL="0">
                        <a:buNone/>
                      </a:pPr>
                      <a:r>
                        <a:rPr lang="en-US" sz="1500" dirty="0">
                          <a:solidFill>
                            <a:srgbClr val="1D2521"/>
                          </a:solidFill>
                          <a:latin typeface="Inter" pitchFamily="34" charset="0"/>
                          <a:ea typeface="Inter" pitchFamily="34" charset="-122"/>
                          <a:cs typeface="Inter" pitchFamily="34" charset="-120"/>
                        </a:rPr>
                        <a:t>Blot out of reach</a:t>
                      </a:r>
                      <a:endParaRPr lang="en-US" sz="1500" dirty="0">
                        <a:latin typeface="Inter" charset="0"/>
                        <a:ea typeface="Inter" charset="0"/>
                        <a:cs typeface="Inter" charset="0"/>
                      </a:endParaRPr>
                    </a:p>
                  </a:txBody>
                  <a:tcPr marL="127000" marR="127000" marT="50800" marB="50800" anchor="ctr">
                    <a:lnL w="9525" cap="flat" cmpd="sng" algn="ctr">
                      <a:solidFill>
                        <a:srgbClr val="E2DCCD"/>
                      </a:solidFill>
                      <a:prstDash val="solid"/>
                      <a:round/>
                      <a:headEnd type="none" w="med" len="med"/>
                      <a:tailEnd type="none" w="med" len="med"/>
                    </a:lnL>
                    <a:lnR w="9525" cap="flat" cmpd="sng" algn="ctr">
                      <a:solidFill>
                        <a:srgbClr val="E2DCCD"/>
                      </a:solidFill>
                      <a:prstDash val="solid"/>
                      <a:round/>
                      <a:headEnd type="none" w="med" len="med"/>
                      <a:tailEnd type="none" w="med" len="med"/>
                    </a:lnR>
                    <a:lnT w="9525" cap="flat" cmpd="sng" algn="ctr">
                      <a:solidFill>
                        <a:srgbClr val="E2DCCD"/>
                      </a:solidFill>
                      <a:prstDash val="solid"/>
                      <a:round/>
                      <a:headEnd type="none" w="med" len="med"/>
                      <a:tailEnd type="none" w="med" len="med"/>
                    </a:lnT>
                    <a:lnB w="9525" cap="flat" cmpd="sng" algn="ctr">
                      <a:solidFill>
                        <a:srgbClr val="E2DCCD"/>
                      </a:solidFill>
                      <a:prstDash val="solid"/>
                      <a:round/>
                      <a:headEnd type="none" w="med" len="med"/>
                      <a:tailEnd type="none" w="med" len="med"/>
                    </a:lnB>
                    <a:solidFill>
                      <a:srgbClr val="FBF8F1"/>
                    </a:solidFill>
                  </a:tcPr>
                </a:tc>
                <a:tc>
                  <a:txBody>
                    <a:bodyPr/>
                    <a:lstStyle/>
                    <a:p>
                      <a:pPr indent="0" marL="0">
                        <a:buNone/>
                      </a:pPr>
                      <a:r>
                        <a:rPr lang="en-US" sz="1500" dirty="0">
                          <a:solidFill>
                            <a:srgbClr val="B5443D"/>
                          </a:solidFill>
                          <a:latin typeface="Inter" pitchFamily="34" charset="0"/>
                          <a:ea typeface="Inter" pitchFamily="34" charset="-122"/>
                          <a:cs typeface="Inter" pitchFamily="34" charset="-120"/>
                        </a:rPr>
                        <a:t>−1 each</a:t>
                      </a:r>
                      <a:endParaRPr lang="en-US" sz="1500" dirty="0">
                        <a:latin typeface="Inter" charset="0"/>
                        <a:ea typeface="Inter" charset="0"/>
                        <a:cs typeface="Inter" charset="0"/>
                      </a:endParaRPr>
                    </a:p>
                  </a:txBody>
                  <a:tcPr marL="127000" marR="127000" marT="50800" marB="50800" anchor="ctr">
                    <a:lnL w="9525" cap="flat" cmpd="sng" algn="ctr">
                      <a:solidFill>
                        <a:srgbClr val="E2DCCD"/>
                      </a:solidFill>
                      <a:prstDash val="solid"/>
                      <a:round/>
                      <a:headEnd type="none" w="med" len="med"/>
                      <a:tailEnd type="none" w="med" len="med"/>
                    </a:lnL>
                    <a:lnR w="9525" cap="flat" cmpd="sng" algn="ctr">
                      <a:solidFill>
                        <a:srgbClr val="E2DCCD"/>
                      </a:solidFill>
                      <a:prstDash val="solid"/>
                      <a:round/>
                      <a:headEnd type="none" w="med" len="med"/>
                      <a:tailEnd type="none" w="med" len="med"/>
                    </a:lnR>
                    <a:lnT w="9525" cap="flat" cmpd="sng" algn="ctr">
                      <a:solidFill>
                        <a:srgbClr val="E2DCCD"/>
                      </a:solidFill>
                      <a:prstDash val="solid"/>
                      <a:round/>
                      <a:headEnd type="none" w="med" len="med"/>
                      <a:tailEnd type="none" w="med" len="med"/>
                    </a:lnT>
                    <a:lnB w="9525" cap="flat" cmpd="sng" algn="ctr">
                      <a:solidFill>
                        <a:srgbClr val="E2DCCD"/>
                      </a:solidFill>
                      <a:prstDash val="solid"/>
                      <a:round/>
                      <a:headEnd type="none" w="med" len="med"/>
                      <a:tailEnd type="none" w="med" len="med"/>
                    </a:lnB>
                    <a:solidFill>
                      <a:srgbClr val="FBF8F1"/>
                    </a:solidFill>
                  </a:tcPr>
                </a:tc>
                <a:tc>
                  <a:txBody>
                    <a:bodyPr/>
                    <a:lstStyle/>
                    <a:p>
                      <a:pPr indent="0" marL="0">
                        <a:buNone/>
                      </a:pPr>
                      <a:r>
                        <a:rPr lang="en-US" sz="1500" dirty="0">
                          <a:solidFill>
                            <a:srgbClr val="1D2521"/>
                          </a:solidFill>
                          <a:latin typeface="Inter" pitchFamily="34" charset="0"/>
                          <a:ea typeface="Inter" pitchFamily="34" charset="-122"/>
                          <a:cs typeface="Inter" pitchFamily="34" charset="-120"/>
                        </a:rPr>
                        <a:t>Loose structure</a:t>
                      </a:r>
                      <a:endParaRPr lang="en-US" sz="1500" dirty="0">
                        <a:latin typeface="Inter" charset="0"/>
                        <a:ea typeface="Inter" charset="0"/>
                        <a:cs typeface="Inter" charset="0"/>
                      </a:endParaRPr>
                    </a:p>
                  </a:txBody>
                  <a:tcPr marL="127000" marR="127000" marT="50800" marB="50800" anchor="ctr">
                    <a:lnL w="9525" cap="flat" cmpd="sng" algn="ctr">
                      <a:solidFill>
                        <a:srgbClr val="E2DCCD"/>
                      </a:solidFill>
                      <a:prstDash val="solid"/>
                      <a:round/>
                      <a:headEnd type="none" w="med" len="med"/>
                      <a:tailEnd type="none" w="med" len="med"/>
                    </a:lnL>
                    <a:lnR w="9525" cap="flat" cmpd="sng" algn="ctr">
                      <a:solidFill>
                        <a:srgbClr val="E2DCCD"/>
                      </a:solidFill>
                      <a:prstDash val="solid"/>
                      <a:round/>
                      <a:headEnd type="none" w="med" len="med"/>
                      <a:tailEnd type="none" w="med" len="med"/>
                    </a:lnR>
                    <a:lnT w="9525" cap="flat" cmpd="sng" algn="ctr">
                      <a:solidFill>
                        <a:srgbClr val="E2DCCD"/>
                      </a:solidFill>
                      <a:prstDash val="solid"/>
                      <a:round/>
                      <a:headEnd type="none" w="med" len="med"/>
                      <a:tailEnd type="none" w="med" len="med"/>
                    </a:lnT>
                    <a:lnB w="9525" cap="flat" cmpd="sng" algn="ctr">
                      <a:solidFill>
                        <a:srgbClr val="E2DCCD"/>
                      </a:solidFill>
                      <a:prstDash val="solid"/>
                      <a:round/>
                      <a:headEnd type="none" w="med" len="med"/>
                      <a:tailEnd type="none" w="med" len="med"/>
                    </a:lnB>
                    <a:solidFill>
                      <a:srgbClr val="FBF8F1"/>
                    </a:solidFill>
                  </a:tcPr>
                </a:tc>
              </a:tr>
              <a:tr h="475488">
                <a:tc>
                  <a:txBody>
                    <a:bodyPr/>
                    <a:lstStyle/>
                    <a:p>
                      <a:pPr indent="0" marL="0">
                        <a:buNone/>
                      </a:pPr>
                      <a:r>
                        <a:rPr lang="en-US" sz="1500" dirty="0">
                          <a:solidFill>
                            <a:srgbClr val="1D2521"/>
                          </a:solidFill>
                          <a:latin typeface="Inter" pitchFamily="34" charset="0"/>
                          <a:ea typeface="Inter" pitchFamily="34" charset="-122"/>
                          <a:cs typeface="Inter" pitchFamily="34" charset="-120"/>
                        </a:rPr>
                        <a:t>Win / loss</a:t>
                      </a:r>
                      <a:endParaRPr lang="en-US" sz="1500" dirty="0">
                        <a:latin typeface="Inter" charset="0"/>
                        <a:ea typeface="Inter" charset="0"/>
                        <a:cs typeface="Inter" charset="0"/>
                      </a:endParaRPr>
                    </a:p>
                  </a:txBody>
                  <a:tcPr marL="127000" marR="127000" marT="50800" marB="50800" anchor="ctr">
                    <a:lnL w="9525" cap="flat" cmpd="sng" algn="ctr">
                      <a:solidFill>
                        <a:srgbClr val="E2DCCD"/>
                      </a:solidFill>
                      <a:prstDash val="solid"/>
                      <a:round/>
                      <a:headEnd type="none" w="med" len="med"/>
                      <a:tailEnd type="none" w="med" len="med"/>
                    </a:lnL>
                    <a:lnR w="9525" cap="flat" cmpd="sng" algn="ctr">
                      <a:solidFill>
                        <a:srgbClr val="E2DCCD"/>
                      </a:solidFill>
                      <a:prstDash val="solid"/>
                      <a:round/>
                      <a:headEnd type="none" w="med" len="med"/>
                      <a:tailEnd type="none" w="med" len="med"/>
                    </a:lnR>
                    <a:lnT w="9525" cap="flat" cmpd="sng" algn="ctr">
                      <a:solidFill>
                        <a:srgbClr val="E2DCCD"/>
                      </a:solidFill>
                      <a:prstDash val="solid"/>
                      <a:round/>
                      <a:headEnd type="none" w="med" len="med"/>
                      <a:tailEnd type="none" w="med" len="med"/>
                    </a:lnT>
                    <a:lnB w="9525" cap="flat" cmpd="sng" algn="ctr">
                      <a:solidFill>
                        <a:srgbClr val="E2DCCD"/>
                      </a:solidFill>
                      <a:prstDash val="solid"/>
                      <a:round/>
                      <a:headEnd type="none" w="med" len="med"/>
                      <a:tailEnd type="none" w="med" len="med"/>
                    </a:lnB>
                    <a:solidFill>
                      <a:srgbClr val="FBF8F1"/>
                    </a:solidFill>
                  </a:tcPr>
                </a:tc>
                <a:tc>
                  <a:txBody>
                    <a:bodyPr/>
                    <a:lstStyle/>
                    <a:p>
                      <a:pPr indent="0" marL="0">
                        <a:buNone/>
                      </a:pPr>
                      <a:r>
                        <a:rPr lang="en-US" sz="1500" dirty="0">
                          <a:solidFill>
                            <a:srgbClr val="1D2521"/>
                          </a:solidFill>
                          <a:latin typeface="Inter" pitchFamily="34" charset="0"/>
                          <a:ea typeface="Inter" pitchFamily="34" charset="-122"/>
                          <a:cs typeface="Inter" pitchFamily="34" charset="-120"/>
                        </a:rPr>
                        <a:t>±10000</a:t>
                      </a:r>
                      <a:endParaRPr lang="en-US" sz="1500" dirty="0">
                        <a:latin typeface="Inter" charset="0"/>
                        <a:ea typeface="Inter" charset="0"/>
                        <a:cs typeface="Inter" charset="0"/>
                      </a:endParaRPr>
                    </a:p>
                  </a:txBody>
                  <a:tcPr marL="127000" marR="127000" marT="50800" marB="50800" anchor="ctr">
                    <a:lnL w="9525" cap="flat" cmpd="sng" algn="ctr">
                      <a:solidFill>
                        <a:srgbClr val="E2DCCD"/>
                      </a:solidFill>
                      <a:prstDash val="solid"/>
                      <a:round/>
                      <a:headEnd type="none" w="med" len="med"/>
                      <a:tailEnd type="none" w="med" len="med"/>
                    </a:lnL>
                    <a:lnR w="9525" cap="flat" cmpd="sng" algn="ctr">
                      <a:solidFill>
                        <a:srgbClr val="E2DCCD"/>
                      </a:solidFill>
                      <a:prstDash val="solid"/>
                      <a:round/>
                      <a:headEnd type="none" w="med" len="med"/>
                      <a:tailEnd type="none" w="med" len="med"/>
                    </a:lnR>
                    <a:lnT w="9525" cap="flat" cmpd="sng" algn="ctr">
                      <a:solidFill>
                        <a:srgbClr val="E2DCCD"/>
                      </a:solidFill>
                      <a:prstDash val="solid"/>
                      <a:round/>
                      <a:headEnd type="none" w="med" len="med"/>
                      <a:tailEnd type="none" w="med" len="med"/>
                    </a:lnT>
                    <a:lnB w="9525" cap="flat" cmpd="sng" algn="ctr">
                      <a:solidFill>
                        <a:srgbClr val="E2DCCD"/>
                      </a:solidFill>
                      <a:prstDash val="solid"/>
                      <a:round/>
                      <a:headEnd type="none" w="med" len="med"/>
                      <a:tailEnd type="none" w="med" len="med"/>
                    </a:lnB>
                    <a:solidFill>
                      <a:srgbClr val="FBF8F1"/>
                    </a:solidFill>
                  </a:tcPr>
                </a:tc>
                <a:tc>
                  <a:txBody>
                    <a:bodyPr/>
                    <a:lstStyle/>
                    <a:p>
                      <a:pPr indent="0" marL="0">
                        <a:buNone/>
                      </a:pPr>
                      <a:r>
                        <a:rPr lang="en-US" sz="1500" dirty="0">
                          <a:solidFill>
                            <a:srgbClr val="1D2521"/>
                          </a:solidFill>
                          <a:latin typeface="Inter" pitchFamily="34" charset="0"/>
                          <a:ea typeface="Inter" pitchFamily="34" charset="-122"/>
                          <a:cs typeface="Inter" pitchFamily="34" charset="-120"/>
                        </a:rPr>
                        <a:t>A finished game beats everything</a:t>
                      </a:r>
                      <a:endParaRPr lang="en-US" sz="1500" dirty="0">
                        <a:latin typeface="Inter" charset="0"/>
                        <a:ea typeface="Inter" charset="0"/>
                        <a:cs typeface="Inter" charset="0"/>
                      </a:endParaRPr>
                    </a:p>
                  </a:txBody>
                  <a:tcPr marL="127000" marR="127000" marT="50800" marB="50800" anchor="ctr">
                    <a:lnL w="9525" cap="flat" cmpd="sng" algn="ctr">
                      <a:solidFill>
                        <a:srgbClr val="E2DCCD"/>
                      </a:solidFill>
                      <a:prstDash val="solid"/>
                      <a:round/>
                      <a:headEnd type="none" w="med" len="med"/>
                      <a:tailEnd type="none" w="med" len="med"/>
                    </a:lnL>
                    <a:lnR w="9525" cap="flat" cmpd="sng" algn="ctr">
                      <a:solidFill>
                        <a:srgbClr val="E2DCCD"/>
                      </a:solidFill>
                      <a:prstDash val="solid"/>
                      <a:round/>
                      <a:headEnd type="none" w="med" len="med"/>
                      <a:tailEnd type="none" w="med" len="med"/>
                    </a:lnR>
                    <a:lnT w="9525" cap="flat" cmpd="sng" algn="ctr">
                      <a:solidFill>
                        <a:srgbClr val="E2DCCD"/>
                      </a:solidFill>
                      <a:prstDash val="solid"/>
                      <a:round/>
                      <a:headEnd type="none" w="med" len="med"/>
                      <a:tailEnd type="none" w="med" len="med"/>
                    </a:lnT>
                    <a:lnB w="9525" cap="flat" cmpd="sng" algn="ctr">
                      <a:solidFill>
                        <a:srgbClr val="E2DCCD"/>
                      </a:solidFill>
                      <a:prstDash val="solid"/>
                      <a:round/>
                      <a:headEnd type="none" w="med" len="med"/>
                      <a:tailEnd type="none" w="med" len="med"/>
                    </a:lnB>
                    <a:solidFill>
                      <a:srgbClr val="FBF8F1"/>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EFE4"/>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indent="0" marL="0">
              <a:buNone/>
            </a:pPr>
            <a:r>
              <a:rPr lang="en-US" sz="2800" b="1" dirty="0">
                <a:solidFill>
                  <a:srgbClr val="1D2521"/>
                </a:solidFill>
                <a:latin typeface="Space Grotesk" pitchFamily="34" charset="0"/>
                <a:ea typeface="Space Grotesk" pitchFamily="34" charset="-122"/>
                <a:cs typeface="Space Grotesk" pitchFamily="34" charset="-120"/>
              </a:rPr>
              <a:t>Inside one decision: the opening 5-3</a:t>
            </a:r>
            <a:endParaRPr lang="en-US" sz="2800" dirty="0"/>
          </a:p>
        </p:txBody>
      </p:sp>
      <p:sp>
        <p:nvSpPr>
          <p:cNvPr id="3" name="Text 1"/>
          <p:cNvSpPr txBox="1"/>
          <p:nvPr/>
        </p:nvSpPr>
        <p:spPr>
          <a:xfrm>
            <a:off x="640080" y="6355080"/>
            <a:ext cx="7315200" cy="228600"/>
          </a:xfrm>
          <a:prstGeom prst="rect">
            <a:avLst/>
          </a:prstGeom>
          <a:noFill/>
          <a:ln/>
        </p:spPr>
        <p:txBody>
          <a:bodyPr wrap="square" lIns="0" tIns="0" rIns="0" bIns="0" rtlCol="0" anchor="ctr"/>
          <a:lstStyle/>
          <a:p>
            <a:pPr indent="0" marL="0">
              <a:buNone/>
            </a:pPr>
            <a:r>
              <a:rPr lang="en-US" sz="900" dirty="0">
                <a:solidFill>
                  <a:srgbClr val="5D6A64"/>
                </a:solidFill>
                <a:latin typeface="Inter" pitchFamily="34" charset="0"/>
                <a:ea typeface="Inter" pitchFamily="34" charset="-122"/>
                <a:cs typeface="Inter" pitchFamily="34" charset="-120"/>
              </a:rPr>
              <a:t>Krishna Mahajan (106wucww) · 5ENT1140 AI Principles</a:t>
            </a:r>
            <a:endParaRPr lang="en-US" sz="900" dirty="0"/>
          </a:p>
        </p:txBody>
      </p:sp>
      <p:sp>
        <p:nvSpPr>
          <p:cNvPr id="4" name="Text 2"/>
          <p:cNvSpPr txBox="1"/>
          <p:nvPr/>
        </p:nvSpPr>
        <p:spPr>
          <a:xfrm>
            <a:off x="10881360" y="6355080"/>
            <a:ext cx="640080" cy="228600"/>
          </a:xfrm>
          <a:prstGeom prst="rect">
            <a:avLst/>
          </a:prstGeom>
          <a:noFill/>
          <a:ln/>
        </p:spPr>
        <p:txBody>
          <a:bodyPr wrap="square" lIns="0" tIns="0" rIns="0" bIns="0" rtlCol="0" anchor="ctr"/>
          <a:lstStyle/>
          <a:p>
            <a:pPr algn="r" indent="0" marL="0">
              <a:buNone/>
            </a:pPr>
            <a:r>
              <a:rPr lang="en-US" sz="900" dirty="0">
                <a:solidFill>
                  <a:srgbClr val="5D6A64"/>
                </a:solidFill>
                <a:latin typeface="Inter" pitchFamily="34" charset="0"/>
                <a:ea typeface="Inter" pitchFamily="34" charset="-122"/>
                <a:cs typeface="Inter" pitchFamily="34" charset="-120"/>
              </a:rPr>
              <a:t>8</a:t>
            </a:r>
            <a:endParaRPr lang="en-US" sz="900" dirty="0"/>
          </a:p>
        </p:txBody>
      </p:sp>
      <p:sp>
        <p:nvSpPr>
          <p:cNvPr id="5" name="Shape 3"/>
          <p:cNvSpPr/>
          <p:nvPr/>
        </p:nvSpPr>
        <p:spPr>
          <a:xfrm>
            <a:off x="640080" y="1325880"/>
            <a:ext cx="6766560" cy="4754880"/>
          </a:xfrm>
          <a:prstGeom prst="rect">
            <a:avLst/>
          </a:prstGeom>
          <a:solidFill>
            <a:srgbClr val="FFFFFF"/>
          </a:solidFill>
          <a:ln w="9525">
            <a:solidFill>
              <a:srgbClr val="E2DCCD"/>
            </a:solidFill>
            <a:prstDash val="solid"/>
          </a:ln>
        </p:spPr>
      </p:sp>
      <p:graphicFrame>
        <p:nvGraphicFramePr>
          <p:cNvPr id="6" name="Chart 0" descr=""/>
          <p:cNvGraphicFramePr/>
          <p:nvPr/>
        </p:nvGraphicFramePr>
        <p:xfrm>
          <a:off x="777240" y="1417320"/>
          <a:ext cx="6492240" cy="45720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7772400" y="1371600"/>
            <a:ext cx="3749040" cy="320040"/>
          </a:xfrm>
          <a:prstGeom prst="rect">
            <a:avLst/>
          </a:prstGeom>
          <a:noFill/>
          <a:ln/>
        </p:spPr>
        <p:txBody>
          <a:bodyPr wrap="square" lIns="0" tIns="0" rIns="0" bIns="0" rtlCol="0" anchor="ctr"/>
          <a:lstStyle/>
          <a:p>
            <a:pPr indent="0" marL="0">
              <a:buNone/>
            </a:pPr>
            <a:r>
              <a:rPr lang="en-US" sz="1500" b="1" dirty="0">
                <a:solidFill>
                  <a:srgbClr val="B5443D"/>
                </a:solidFill>
                <a:latin typeface="Inter" pitchFamily="34" charset="0"/>
                <a:ea typeface="Inter" pitchFamily="34" charset="-122"/>
                <a:cs typeface="Inter" pitchFamily="34" charset="-120"/>
              </a:rPr>
              <a:t>Input</a:t>
            </a:r>
            <a:endParaRPr lang="en-US" sz="1500" dirty="0"/>
          </a:p>
        </p:txBody>
      </p:sp>
      <p:sp>
        <p:nvSpPr>
          <p:cNvPr id="8" name="Text 5"/>
          <p:cNvSpPr txBox="1"/>
          <p:nvPr/>
        </p:nvSpPr>
        <p:spPr>
          <a:xfrm>
            <a:off x="7772400" y="1719072"/>
            <a:ext cx="3749040" cy="777240"/>
          </a:xfrm>
          <a:prstGeom prst="rect">
            <a:avLst/>
          </a:prstGeom>
          <a:noFill/>
          <a:ln/>
        </p:spPr>
        <p:txBody>
          <a:bodyPr wrap="square" lIns="0" tIns="0" rIns="0" bIns="0" rtlCol="0" anchor="t"/>
          <a:lstStyle/>
          <a:p>
            <a:pPr indent="0" marL="0">
              <a:buNone/>
            </a:pPr>
            <a:r>
              <a:rPr lang="en-US" sz="1400" dirty="0">
                <a:solidFill>
                  <a:srgbClr val="1D2521"/>
                </a:solidFill>
                <a:latin typeface="Inter" pitchFamily="34" charset="0"/>
                <a:ea typeface="Inter" pitchFamily="34" charset="-122"/>
                <a:cs typeface="Inter" pitchFamily="34" charset="-120"/>
              </a:rPr>
              <a:t>Opening position, AI plays White, rolls 5-3</a:t>
            </a:r>
            <a:endParaRPr lang="en-US" sz="1400" dirty="0"/>
          </a:p>
        </p:txBody>
      </p:sp>
      <p:sp>
        <p:nvSpPr>
          <p:cNvPr id="9" name="Text 6"/>
          <p:cNvSpPr txBox="1"/>
          <p:nvPr/>
        </p:nvSpPr>
        <p:spPr>
          <a:xfrm>
            <a:off x="7772400" y="2560320"/>
            <a:ext cx="3749040" cy="320040"/>
          </a:xfrm>
          <a:prstGeom prst="rect">
            <a:avLst/>
          </a:prstGeom>
          <a:noFill/>
          <a:ln/>
        </p:spPr>
        <p:txBody>
          <a:bodyPr wrap="square" lIns="0" tIns="0" rIns="0" bIns="0" rtlCol="0" anchor="ctr"/>
          <a:lstStyle/>
          <a:p>
            <a:pPr indent="0" marL="0">
              <a:buNone/>
            </a:pPr>
            <a:r>
              <a:rPr lang="en-US" sz="1500" b="1" dirty="0">
                <a:solidFill>
                  <a:srgbClr val="B5443D"/>
                </a:solidFill>
                <a:latin typeface="Inter" pitchFamily="34" charset="0"/>
                <a:ea typeface="Inter" pitchFamily="34" charset="-122"/>
                <a:cs typeface="Inter" pitchFamily="34" charset="-120"/>
              </a:rPr>
              <a:t>Output</a:t>
            </a:r>
            <a:endParaRPr lang="en-US" sz="1500" dirty="0"/>
          </a:p>
        </p:txBody>
      </p:sp>
      <p:sp>
        <p:nvSpPr>
          <p:cNvPr id="10" name="Text 7"/>
          <p:cNvSpPr txBox="1"/>
          <p:nvPr/>
        </p:nvSpPr>
        <p:spPr>
          <a:xfrm>
            <a:off x="7772400" y="2907792"/>
            <a:ext cx="3749040" cy="777240"/>
          </a:xfrm>
          <a:prstGeom prst="rect">
            <a:avLst/>
          </a:prstGeom>
          <a:noFill/>
          <a:ln/>
        </p:spPr>
        <p:txBody>
          <a:bodyPr wrap="square" lIns="0" tIns="0" rIns="0" bIns="0" rtlCol="0" anchor="t"/>
          <a:lstStyle/>
          <a:p>
            <a:pPr indent="0" marL="0">
              <a:buNone/>
            </a:pPr>
            <a:r>
              <a:rPr lang="en-US" sz="1400" dirty="0">
                <a:solidFill>
                  <a:srgbClr val="1D2521"/>
                </a:solidFill>
                <a:latin typeface="Inter" pitchFamily="34" charset="0"/>
                <a:ea typeface="Inter" pitchFamily="34" charset="-122"/>
                <a:cs typeface="Inter" pitchFamily="34" charset="-120"/>
              </a:rPr>
              <a:t>8/3 6/3: makes the 3-point, leaves no blots</a:t>
            </a:r>
            <a:endParaRPr lang="en-US" sz="1400" dirty="0"/>
          </a:p>
        </p:txBody>
      </p:sp>
      <p:sp>
        <p:nvSpPr>
          <p:cNvPr id="11" name="Text 8"/>
          <p:cNvSpPr txBox="1"/>
          <p:nvPr/>
        </p:nvSpPr>
        <p:spPr>
          <a:xfrm>
            <a:off x="7772400" y="3749040"/>
            <a:ext cx="3749040" cy="320040"/>
          </a:xfrm>
          <a:prstGeom prst="rect">
            <a:avLst/>
          </a:prstGeom>
          <a:noFill/>
          <a:ln/>
        </p:spPr>
        <p:txBody>
          <a:bodyPr wrap="square" lIns="0" tIns="0" rIns="0" bIns="0" rtlCol="0" anchor="ctr"/>
          <a:lstStyle/>
          <a:p>
            <a:pPr indent="0" marL="0">
              <a:buNone/>
            </a:pPr>
            <a:r>
              <a:rPr lang="en-US" sz="1500" b="1" dirty="0">
                <a:solidFill>
                  <a:srgbClr val="B5443D"/>
                </a:solidFill>
                <a:latin typeface="Inter" pitchFamily="34" charset="0"/>
                <a:ea typeface="Inter" pitchFamily="34" charset="-122"/>
                <a:cs typeface="Inter" pitchFamily="34" charset="-120"/>
              </a:rPr>
              <a:t>Why</a:t>
            </a:r>
            <a:endParaRPr lang="en-US" sz="1500" dirty="0"/>
          </a:p>
        </p:txBody>
      </p:sp>
      <p:sp>
        <p:nvSpPr>
          <p:cNvPr id="12" name="Text 9"/>
          <p:cNvSpPr txBox="1"/>
          <p:nvPr/>
        </p:nvSpPr>
        <p:spPr>
          <a:xfrm>
            <a:off x="7772400" y="4096512"/>
            <a:ext cx="3749040" cy="777240"/>
          </a:xfrm>
          <a:prstGeom prst="rect">
            <a:avLst/>
          </a:prstGeom>
          <a:noFill/>
          <a:ln/>
        </p:spPr>
        <p:txBody>
          <a:bodyPr wrap="square" lIns="0" tIns="0" rIns="0" bIns="0" rtlCol="0" anchor="t"/>
          <a:lstStyle/>
          <a:p>
            <a:pPr indent="0" marL="0">
              <a:buNone/>
            </a:pPr>
            <a:r>
              <a:rPr lang="en-US" sz="1400" dirty="0">
                <a:solidFill>
                  <a:srgbClr val="1D2521"/>
                </a:solidFill>
                <a:latin typeface="Inter" pitchFamily="34" charset="0"/>
                <a:ea typeface="Inter" pitchFamily="34" charset="-122"/>
                <a:cs typeface="Inter" pitchFamily="34" charset="-120"/>
              </a:rPr>
              <a:t>Even the opponent's best roll, 6-6, only drops it to 0. 13/8 13/10 is punished by 3-3 down to −16.</a:t>
            </a:r>
            <a:endParaRPr lang="en-US" sz="1400" dirty="0"/>
          </a:p>
        </p:txBody>
      </p:sp>
      <p:sp>
        <p:nvSpPr>
          <p:cNvPr id="13" name="Text 10"/>
          <p:cNvSpPr txBox="1"/>
          <p:nvPr/>
        </p:nvSpPr>
        <p:spPr>
          <a:xfrm>
            <a:off x="7772400" y="4937760"/>
            <a:ext cx="3749040" cy="320040"/>
          </a:xfrm>
          <a:prstGeom prst="rect">
            <a:avLst/>
          </a:prstGeom>
          <a:noFill/>
          <a:ln/>
        </p:spPr>
        <p:txBody>
          <a:bodyPr wrap="square" lIns="0" tIns="0" rIns="0" bIns="0" rtlCol="0" anchor="ctr"/>
          <a:lstStyle/>
          <a:p>
            <a:pPr indent="0" marL="0">
              <a:buNone/>
            </a:pPr>
            <a:r>
              <a:rPr lang="en-US" sz="1500" b="1" dirty="0">
                <a:solidFill>
                  <a:srgbClr val="B5443D"/>
                </a:solidFill>
                <a:latin typeface="Inter" pitchFamily="34" charset="0"/>
                <a:ea typeface="Inter" pitchFamily="34" charset="-122"/>
                <a:cs typeface="Inter" pitchFamily="34" charset="-120"/>
              </a:rPr>
              <a:t>Check</a:t>
            </a:r>
            <a:endParaRPr lang="en-US" sz="1500" dirty="0"/>
          </a:p>
        </p:txBody>
      </p:sp>
      <p:sp>
        <p:nvSpPr>
          <p:cNvPr id="14" name="Text 11"/>
          <p:cNvSpPr txBox="1"/>
          <p:nvPr/>
        </p:nvSpPr>
        <p:spPr>
          <a:xfrm>
            <a:off x="7772400" y="5285232"/>
            <a:ext cx="3749040" cy="777240"/>
          </a:xfrm>
          <a:prstGeom prst="rect">
            <a:avLst/>
          </a:prstGeom>
          <a:noFill/>
          <a:ln/>
        </p:spPr>
        <p:txBody>
          <a:bodyPr wrap="square" lIns="0" tIns="0" rIns="0" bIns="0" rtlCol="0" anchor="t"/>
          <a:lstStyle/>
          <a:p>
            <a:pPr indent="0" marL="0">
              <a:buNone/>
            </a:pPr>
            <a:r>
              <a:rPr lang="en-US" sz="1400" dirty="0">
                <a:solidFill>
                  <a:srgbClr val="1D2521"/>
                </a:solidFill>
                <a:latin typeface="Inter" pitchFamily="34" charset="0"/>
                <a:ea typeface="Inter" pitchFamily="34" charset="-122"/>
                <a:cs typeface="Inter" pitchFamily="34" charset="-120"/>
              </a:rPr>
              <a:t>8/3 6/3 is the standard expert move for 5-3</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EFE4"/>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indent="0" marL="0">
              <a:buNone/>
            </a:pPr>
            <a:r>
              <a:rPr lang="en-US" sz="2800" b="1" dirty="0">
                <a:solidFill>
                  <a:srgbClr val="1D2521"/>
                </a:solidFill>
                <a:latin typeface="Space Grotesk" pitchFamily="34" charset="0"/>
                <a:ea typeface="Space Grotesk" pitchFamily="34" charset="-122"/>
                <a:cs typeface="Space Grotesk" pitchFamily="34" charset="-120"/>
              </a:rPr>
              <a:t>From wireframe to game</a:t>
            </a:r>
            <a:endParaRPr lang="en-US" sz="2800" dirty="0"/>
          </a:p>
        </p:txBody>
      </p:sp>
      <p:sp>
        <p:nvSpPr>
          <p:cNvPr id="3" name="Text 1"/>
          <p:cNvSpPr txBox="1"/>
          <p:nvPr/>
        </p:nvSpPr>
        <p:spPr>
          <a:xfrm>
            <a:off x="640080" y="6355080"/>
            <a:ext cx="7315200" cy="228600"/>
          </a:xfrm>
          <a:prstGeom prst="rect">
            <a:avLst/>
          </a:prstGeom>
          <a:noFill/>
          <a:ln/>
        </p:spPr>
        <p:txBody>
          <a:bodyPr wrap="square" lIns="0" tIns="0" rIns="0" bIns="0" rtlCol="0" anchor="ctr"/>
          <a:lstStyle/>
          <a:p>
            <a:pPr indent="0" marL="0">
              <a:buNone/>
            </a:pPr>
            <a:r>
              <a:rPr lang="en-US" sz="900" dirty="0">
                <a:solidFill>
                  <a:srgbClr val="5D6A64"/>
                </a:solidFill>
                <a:latin typeface="Inter" pitchFamily="34" charset="0"/>
                <a:ea typeface="Inter" pitchFamily="34" charset="-122"/>
                <a:cs typeface="Inter" pitchFamily="34" charset="-120"/>
              </a:rPr>
              <a:t>Krishna Mahajan (106wucww) · 5ENT1140 AI Principles</a:t>
            </a:r>
            <a:endParaRPr lang="en-US" sz="900" dirty="0"/>
          </a:p>
        </p:txBody>
      </p:sp>
      <p:sp>
        <p:nvSpPr>
          <p:cNvPr id="4" name="Text 2"/>
          <p:cNvSpPr txBox="1"/>
          <p:nvPr/>
        </p:nvSpPr>
        <p:spPr>
          <a:xfrm>
            <a:off x="10881360" y="6355080"/>
            <a:ext cx="640080" cy="228600"/>
          </a:xfrm>
          <a:prstGeom prst="rect">
            <a:avLst/>
          </a:prstGeom>
          <a:noFill/>
          <a:ln/>
        </p:spPr>
        <p:txBody>
          <a:bodyPr wrap="square" lIns="0" tIns="0" rIns="0" bIns="0" rtlCol="0" anchor="ctr"/>
          <a:lstStyle/>
          <a:p>
            <a:pPr algn="r" indent="0" marL="0">
              <a:buNone/>
            </a:pPr>
            <a:r>
              <a:rPr lang="en-US" sz="900" dirty="0">
                <a:solidFill>
                  <a:srgbClr val="5D6A64"/>
                </a:solidFill>
                <a:latin typeface="Inter" pitchFamily="34" charset="0"/>
                <a:ea typeface="Inter" pitchFamily="34" charset="-122"/>
                <a:cs typeface="Inter" pitchFamily="34" charset="-120"/>
              </a:rPr>
              <a:t>9</a:t>
            </a:r>
            <a:endParaRPr lang="en-US" sz="900" dirty="0"/>
          </a:p>
        </p:txBody>
      </p:sp>
      <p:sp>
        <p:nvSpPr>
          <p:cNvPr id="5" name="Shape 3"/>
          <p:cNvSpPr/>
          <p:nvPr/>
        </p:nvSpPr>
        <p:spPr>
          <a:xfrm>
            <a:off x="640080" y="1371600"/>
            <a:ext cx="6035040" cy="4114800"/>
          </a:xfrm>
          <a:prstGeom prst="rect">
            <a:avLst/>
          </a:prstGeom>
          <a:solidFill>
            <a:srgbClr val="FFFFFF"/>
          </a:solidFill>
          <a:ln w="12700">
            <a:solidFill>
              <a:srgbClr val="E2DCCD"/>
            </a:solidFill>
            <a:prstDash val="solid"/>
          </a:ln>
        </p:spPr>
      </p:sp>
      <p:pic>
        <p:nvPicPr>
          <p:cNvPr id="6" name="Image 0" descr="image-7-1.png">    </p:cNvPr>
          <p:cNvPicPr>
            <a:picLocks noChangeAspect="1"/>
          </p:cNvPicPr>
          <p:nvPr/>
        </p:nvPicPr>
        <p:blipFill>
          <a:blip r:embed="rId1"/>
          <a:stretch>
            <a:fillRect/>
          </a:stretch>
        </p:blipFill>
        <p:spPr>
          <a:xfrm>
            <a:off x="731520" y="2395728"/>
            <a:ext cx="5852160" cy="1993392"/>
          </a:xfrm>
          <a:prstGeom prst="rect">
            <a:avLst/>
          </a:prstGeom>
        </p:spPr>
      </p:pic>
      <p:pic>
        <p:nvPicPr>
          <p:cNvPr id="7" name="Image 1" descr="image-7-2.png">    </p:cNvPr>
          <p:cNvPicPr>
            <a:picLocks noChangeAspect="1"/>
          </p:cNvPicPr>
          <p:nvPr/>
        </p:nvPicPr>
        <p:blipFill>
          <a:blip r:embed="rId2"/>
          <a:stretch>
            <a:fillRect/>
          </a:stretch>
        </p:blipFill>
        <p:spPr>
          <a:xfrm>
            <a:off x="6858000" y="1371600"/>
            <a:ext cx="4663440" cy="2843784"/>
          </a:xfrm>
          <a:prstGeom prst="rect">
            <a:avLst/>
          </a:prstGeom>
        </p:spPr>
      </p:pic>
      <p:sp>
        <p:nvSpPr>
          <p:cNvPr id="8" name="Text 4"/>
          <p:cNvSpPr txBox="1"/>
          <p:nvPr/>
        </p:nvSpPr>
        <p:spPr>
          <a:xfrm>
            <a:off x="6858000" y="4389120"/>
            <a:ext cx="4663440" cy="822960"/>
          </a:xfrm>
          <a:prstGeom prst="rect">
            <a:avLst/>
          </a:prstGeom>
          <a:noFill/>
          <a:ln/>
        </p:spPr>
        <p:txBody>
          <a:bodyPr wrap="square" lIns="0" tIns="0" rIns="0" bIns="0" rtlCol="0" anchor="t"/>
          <a:lstStyle/>
          <a:p>
            <a:pPr indent="0" marL="0">
              <a:buNone/>
            </a:pPr>
            <a:r>
              <a:rPr lang="en-US" sz="1400" dirty="0">
                <a:solidFill>
                  <a:srgbClr val="5D6A64"/>
                </a:solidFill>
                <a:latin typeface="Inter" pitchFamily="34" charset="0"/>
                <a:ea typeface="Inter" pitchFamily="34" charset="-122"/>
                <a:cs typeface="Inter" pitchFamily="34" charset="-120"/>
              </a:rPr>
              <a:t>Gold ring: pieces you can move · green: legal targets · blue: the AI's last move</a:t>
            </a:r>
            <a:endParaRPr lang="en-US" sz="1400"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EFE4"/>
        </a:solidFill>
      </p:bgPr>
    </p:bg>
    <p:spTree>
      <p:nvGrpSpPr>
        <p:cNvPr id="1" name=""/>
        <p:cNvGrpSpPr/>
        <p:nvPr/>
      </p:nvGrpSpPr>
      <p:grpSpPr/>
      <p:sp>
        <p:nvSpPr>
          <p:cNvPr id="2" name="Text 0"/>
          <p:cNvSpPr txBox="1"/>
          <p:nvPr/>
        </p:nvSpPr>
        <p:spPr>
          <a:xfrm>
            <a:off x="640080" y="457200"/>
            <a:ext cx="10881360" cy="640080"/>
          </a:xfrm>
          <a:prstGeom prst="rect">
            <a:avLst/>
          </a:prstGeom>
          <a:noFill/>
          <a:ln/>
        </p:spPr>
        <p:txBody>
          <a:bodyPr wrap="square" lIns="0" tIns="0" rIns="0" bIns="0" rtlCol="0" anchor="ctr"/>
          <a:lstStyle/>
          <a:p>
            <a:pPr indent="0" marL="0">
              <a:buNone/>
            </a:pPr>
            <a:r>
              <a:rPr lang="en-US" sz="2800" b="1" dirty="0">
                <a:solidFill>
                  <a:srgbClr val="1D2521"/>
                </a:solidFill>
                <a:latin typeface="Space Grotesk" pitchFamily="34" charset="0"/>
                <a:ea typeface="Space Grotesk" pitchFamily="34" charset="-122"/>
                <a:cs typeface="Space Grotesk" pitchFamily="34" charset="-120"/>
              </a:rPr>
              <a:t>New: see the AI think, and get graded</a:t>
            </a:r>
            <a:endParaRPr lang="en-US" sz="2800" dirty="0"/>
          </a:p>
        </p:txBody>
      </p:sp>
      <p:sp>
        <p:nvSpPr>
          <p:cNvPr id="3" name="Text 1"/>
          <p:cNvSpPr txBox="1"/>
          <p:nvPr/>
        </p:nvSpPr>
        <p:spPr>
          <a:xfrm>
            <a:off x="640080" y="6355080"/>
            <a:ext cx="7315200" cy="228600"/>
          </a:xfrm>
          <a:prstGeom prst="rect">
            <a:avLst/>
          </a:prstGeom>
          <a:noFill/>
          <a:ln/>
        </p:spPr>
        <p:txBody>
          <a:bodyPr wrap="square" lIns="0" tIns="0" rIns="0" bIns="0" rtlCol="0" anchor="ctr"/>
          <a:lstStyle/>
          <a:p>
            <a:pPr indent="0" marL="0">
              <a:buNone/>
            </a:pPr>
            <a:r>
              <a:rPr lang="en-US" sz="900" dirty="0">
                <a:solidFill>
                  <a:srgbClr val="5D6A64"/>
                </a:solidFill>
                <a:latin typeface="Inter" pitchFamily="34" charset="0"/>
                <a:ea typeface="Inter" pitchFamily="34" charset="-122"/>
                <a:cs typeface="Inter" pitchFamily="34" charset="-120"/>
              </a:rPr>
              <a:t>Krishna Mahajan (106wucww) · 5ENT1140 AI Principles</a:t>
            </a:r>
            <a:endParaRPr lang="en-US" sz="900" dirty="0"/>
          </a:p>
        </p:txBody>
      </p:sp>
      <p:sp>
        <p:nvSpPr>
          <p:cNvPr id="4" name="Text 2"/>
          <p:cNvSpPr txBox="1"/>
          <p:nvPr/>
        </p:nvSpPr>
        <p:spPr>
          <a:xfrm>
            <a:off x="10881360" y="6355080"/>
            <a:ext cx="640080" cy="228600"/>
          </a:xfrm>
          <a:prstGeom prst="rect">
            <a:avLst/>
          </a:prstGeom>
          <a:noFill/>
          <a:ln/>
        </p:spPr>
        <p:txBody>
          <a:bodyPr wrap="square" lIns="0" tIns="0" rIns="0" bIns="0" rtlCol="0" anchor="ctr"/>
          <a:lstStyle/>
          <a:p>
            <a:pPr algn="r" indent="0" marL="0">
              <a:buNone/>
            </a:pPr>
            <a:r>
              <a:rPr lang="en-US" sz="900" dirty="0">
                <a:solidFill>
                  <a:srgbClr val="5D6A64"/>
                </a:solidFill>
                <a:latin typeface="Inter" pitchFamily="34" charset="0"/>
                <a:ea typeface="Inter" pitchFamily="34" charset="-122"/>
                <a:cs typeface="Inter" pitchFamily="34" charset="-120"/>
              </a:rPr>
              <a:t>10</a:t>
            </a:r>
            <a:endParaRPr lang="en-US" sz="900" dirty="0"/>
          </a:p>
        </p:txBody>
      </p:sp>
      <p:sp>
        <p:nvSpPr>
          <p:cNvPr id="8" name="Text 4"/>
          <p:cNvSpPr txBox="1"/>
          <p:nvPr/>
        </p:nvSpPr>
        <p:spPr>
          <a:xfrm>
            <a:off x="548640" y="4937760"/>
            <a:ext cx="11094720" cy="822960"/>
          </a:xfrm>
          <a:prstGeom prst="rect">
            <a:avLst/>
          </a:prstGeom>
          <a:noFill/>
          <a:ln/>
        </p:spPr>
        <p:txBody>
          <a:bodyPr wrap="square" lIns="0" tIns="0" rIns="0" bIns="0" rtlCol="0" anchor="t"/>
          <a:lstStyle/>
          <a:p>
            <a:pPr indent="0" marL="0" algn="ctr">
              <a:buNone/>
            </a:pPr>
            <a:r>
              <a:rPr lang="en-US" sz="1400" dirty="0">
                <a:solidFill>
                  <a:srgbClr val="5D6A64"/>
                </a:solidFill>
                <a:latin typeface="Inter" pitchFamily="34" charset="0"/>
                <a:ea typeface="Inter" pitchFamily="34" charset="-122"/>
                <a:cs typeface="Inter" pitchFamily="34" charset="-120"/>
              </a:rPr>
              <a:t>Win-chance bar (calibrated on 300 games) · Hint arrows · AI panel · every move graded Best to Blunder</a:t>
            </a:r>
            <a:endParaRPr lang="en-US" sz="1400" dirty="0"/>
          </a:p>
        </p:txBody>
      </p:sp>
      <p:pic>
        <p:nvPicPr>
          <p:cNvPr id="9" name="Picture 8" descr="new_hint.png"/>
          <p:cNvPicPr>
            <a:picLocks noChangeAspect="1"/>
          </p:cNvPicPr>
          <p:nvPr/>
        </p:nvPicPr>
        <p:blipFill>
          <a:blip r:embed="rId5"/>
          <a:stretch>
            <a:fillRect/>
          </a:stretch>
        </p:blipFill>
        <p:spPr>
          <a:xfrm>
            <a:off x="548640" y="1371600"/>
            <a:ext cx="5486400" cy="3347633"/>
          </a:xfrm>
          <a:prstGeom prst="rect">
            <a:avLst/>
          </a:prstGeom>
        </p:spPr>
      </p:pic>
      <p:pic>
        <p:nvPicPr>
          <p:cNvPr id="10" name="Picture 9" descr="new_analysis.png"/>
          <p:cNvPicPr>
            <a:picLocks noChangeAspect="1"/>
          </p:cNvPicPr>
          <p:nvPr/>
        </p:nvPicPr>
        <p:blipFill>
          <a:blip r:embed="rId6"/>
          <a:stretch>
            <a:fillRect/>
          </a:stretch>
        </p:blipFill>
        <p:spPr>
          <a:xfrm>
            <a:off x="6156960" y="1371600"/>
            <a:ext cx="5486400" cy="334763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B5443D"/>
        </a:solidFill>
      </p:bgPr>
    </p:bg>
    <p:spTree>
      <p:nvGrpSpPr>
        <p:cNvPr id="1" name=""/>
        <p:cNvGrpSpPr/>
        <p:nvPr/>
      </p:nvGrpSpPr>
      <p:grpSpPr>
        <a:xfrm>
          <a:off x="0" y="0"/>
          <a:ext cx="0" cy="0"/>
          <a:chOff x="0" y="0"/>
          <a:chExt cx="0" cy="0"/>
        </a:xfrm>
      </p:grpSpPr>
      <p:sp>
        <p:nvSpPr>
          <p:cNvPr id="2" name="Text 0"/>
          <p:cNvSpPr txBox="1"/>
          <p:nvPr/>
        </p:nvSpPr>
        <p:spPr>
          <a:xfrm>
            <a:off x="640080" y="2377440"/>
            <a:ext cx="9144000" cy="914400"/>
          </a:xfrm>
          <a:prstGeom prst="rect">
            <a:avLst/>
          </a:prstGeom>
          <a:noFill/>
          <a:ln/>
        </p:spPr>
        <p:txBody>
          <a:bodyPr wrap="square" lIns="0" tIns="0" rIns="0" bIns="0" rtlCol="0" anchor="ctr"/>
          <a:lstStyle/>
          <a:p>
            <a:pPr indent="0" marL="0">
              <a:buNone/>
            </a:pPr>
            <a:r>
              <a:rPr lang="en-US" sz="4800" b="1" dirty="0">
                <a:solidFill>
                  <a:srgbClr val="FFFFFF"/>
                </a:solidFill>
                <a:latin typeface="Space Grotesk" pitchFamily="34" charset="0"/>
                <a:ea typeface="Space Grotesk" pitchFamily="34" charset="-122"/>
                <a:cs typeface="Space Grotesk" pitchFamily="34" charset="-120"/>
              </a:rPr>
              <a:t>Live demo</a:t>
            </a:r>
            <a:endParaRPr lang="en-US" sz="4800" dirty="0"/>
          </a:p>
        </p:txBody>
      </p:sp>
      <p:sp>
        <p:nvSpPr>
          <p:cNvPr id="3" name="Text 1">
            <a:hlinkClick r:id="rId1" tooltip=""/>
          </p:cNvPr>
          <p:cNvSpPr txBox="1"/>
          <p:nvPr/>
        </p:nvSpPr>
        <p:spPr>
          <a:xfrm>
            <a:off x="640080" y="3337560"/>
            <a:ext cx="9144000" cy="411480"/>
          </a:xfrm>
          <a:prstGeom prst="rect">
            <a:avLst/>
          </a:prstGeom>
          <a:noFill/>
          <a:ln/>
        </p:spPr>
        <p:txBody>
          <a:bodyPr wrap="square" lIns="0" tIns="0" rIns="0" bIns="0" rtlCol="0" anchor="ctr"/>
          <a:lstStyle/>
          <a:p>
            <a:pPr indent="0" marL="0">
              <a:buNone/>
            </a:pPr>
            <a:r>
              <a:rPr lang="en-US" sz="1800" u="sng" dirty="0">
                <a:solidFill>
                  <a:srgbClr val="FFFFFF"/>
                </a:solidFill>
                <a:latin typeface="Inter" pitchFamily="34" charset="0"/>
                <a:ea typeface="Inter" pitchFamily="34" charset="-122"/>
                <a:cs typeface="Inter" pitchFamily="34" charset="-120"/>
                <a:hlinkClick r:id="rId1" invalidUrl="" action="" tgtFrame="" tooltip="" history="1" highlightClick="0" endSnd="0">
                  <a:extLst>
                    <a:ext uri="{A12FA001-AC4F-418D-AE19-62706E023703}">
                      <ahyp:hlinkClr xmlns:ahyp="http://schemas.microsoft.com/office/drawing/2018/hyperlinkcolor" val="tx"/>
                    </a:ext>
                  </a:extLst>
                </a:hlinkClick>
              </a:rPr>
              <a:t>kris072008.itch.io/backgammon-ai</a:t>
            </a:r>
            <a:endParaRPr lang="en-US" sz="1800" dirty="0"/>
          </a:p>
        </p:txBody>
      </p:sp>
      <p:sp>
        <p:nvSpPr>
          <p:cNvPr id="4" name="Text 2"/>
          <p:cNvSpPr txBox="1"/>
          <p:nvPr/>
        </p:nvSpPr>
        <p:spPr>
          <a:xfrm>
            <a:off x="640080" y="3886200"/>
            <a:ext cx="9144000" cy="365760"/>
          </a:xfrm>
          <a:prstGeom prst="rect">
            <a:avLst/>
          </a:prstGeom>
          <a:noFill/>
          <a:ln/>
        </p:spPr>
        <p:txBody>
          <a:bodyPr wrap="square" lIns="0" tIns="0" rIns="0" bIns="0" rtlCol="0" anchor="ctr"/>
          <a:lstStyle/>
          <a:p>
            <a:pPr indent="0" marL="0">
              <a:buNone/>
            </a:pPr>
            <a:r>
              <a:rPr lang="en-US" sz="1500" dirty="0">
                <a:solidFill>
                  <a:srgbClr val="F4EFE4"/>
                </a:solidFill>
                <a:latin typeface="Inter" pitchFamily="34" charset="0"/>
                <a:ea typeface="Inter" pitchFamily="34" charset="-122"/>
                <a:cs typeface="Inter" pitchFamily="34" charset="-120"/>
              </a:rPr>
              <a:t>Pick Hard · roll · press H for a hint · watch the win-chance bar and your move grade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4EFE4"/>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indent="0" marL="0">
              <a:buNone/>
            </a:pPr>
            <a:r>
              <a:rPr lang="en-US" sz="2800" b="1" dirty="0">
                <a:solidFill>
                  <a:srgbClr val="1D2521"/>
                </a:solidFill>
                <a:latin typeface="Space Grotesk" pitchFamily="34" charset="0"/>
                <a:ea typeface="Space Grotesk" pitchFamily="34" charset="-122"/>
                <a:cs typeface="Space Grotesk" pitchFamily="34" charset="-120"/>
              </a:rPr>
              <a:t>Results: 500+ AI-vs-AI games</a:t>
            </a:r>
            <a:endParaRPr lang="en-US" sz="2800" dirty="0"/>
          </a:p>
        </p:txBody>
      </p:sp>
      <p:sp>
        <p:nvSpPr>
          <p:cNvPr id="3" name="Text 1"/>
          <p:cNvSpPr txBox="1"/>
          <p:nvPr/>
        </p:nvSpPr>
        <p:spPr>
          <a:xfrm>
            <a:off x="640080" y="6355080"/>
            <a:ext cx="7315200" cy="228600"/>
          </a:xfrm>
          <a:prstGeom prst="rect">
            <a:avLst/>
          </a:prstGeom>
          <a:noFill/>
          <a:ln/>
        </p:spPr>
        <p:txBody>
          <a:bodyPr wrap="square" lIns="0" tIns="0" rIns="0" bIns="0" rtlCol="0" anchor="ctr"/>
          <a:lstStyle/>
          <a:p>
            <a:pPr indent="0" marL="0">
              <a:buNone/>
            </a:pPr>
            <a:r>
              <a:rPr lang="en-US" sz="900" dirty="0">
                <a:solidFill>
                  <a:srgbClr val="5D6A64"/>
                </a:solidFill>
                <a:latin typeface="Inter" pitchFamily="34" charset="0"/>
                <a:ea typeface="Inter" pitchFamily="34" charset="-122"/>
                <a:cs typeface="Inter" pitchFamily="34" charset="-120"/>
              </a:rPr>
              <a:t>Krishna Mahajan (106wucww) · 5ENT1140 AI Principles</a:t>
            </a:r>
            <a:endParaRPr lang="en-US" sz="900" dirty="0"/>
          </a:p>
        </p:txBody>
      </p:sp>
      <p:sp>
        <p:nvSpPr>
          <p:cNvPr id="4" name="Text 2"/>
          <p:cNvSpPr txBox="1"/>
          <p:nvPr/>
        </p:nvSpPr>
        <p:spPr>
          <a:xfrm>
            <a:off x="10881360" y="6355080"/>
            <a:ext cx="640080" cy="228600"/>
          </a:xfrm>
          <a:prstGeom prst="rect">
            <a:avLst/>
          </a:prstGeom>
          <a:noFill/>
          <a:ln/>
        </p:spPr>
        <p:txBody>
          <a:bodyPr wrap="square" lIns="0" tIns="0" rIns="0" bIns="0" rtlCol="0" anchor="ctr"/>
          <a:lstStyle/>
          <a:p>
            <a:pPr algn="r" indent="0" marL="0">
              <a:buNone/>
            </a:pPr>
            <a:r>
              <a:rPr lang="en-US" sz="900" dirty="0">
                <a:solidFill>
                  <a:srgbClr val="5D6A64"/>
                </a:solidFill>
                <a:latin typeface="Inter" pitchFamily="34" charset="0"/>
                <a:ea typeface="Inter" pitchFamily="34" charset="-122"/>
                <a:cs typeface="Inter" pitchFamily="34" charset="-120"/>
              </a:rPr>
              <a:t>12</a:t>
            </a:r>
            <a:endParaRPr lang="en-US" sz="900" dirty="0"/>
          </a:p>
        </p:txBody>
      </p:sp>
      <p:sp>
        <p:nvSpPr>
          <p:cNvPr id="5" name="Shape 3"/>
          <p:cNvSpPr/>
          <p:nvPr/>
        </p:nvSpPr>
        <p:spPr>
          <a:xfrm>
            <a:off x="640080" y="1325880"/>
            <a:ext cx="6400800" cy="4754880"/>
          </a:xfrm>
          <a:prstGeom prst="rect">
            <a:avLst/>
          </a:prstGeom>
          <a:solidFill>
            <a:srgbClr val="FFFFFF"/>
          </a:solidFill>
          <a:ln w="9525">
            <a:solidFill>
              <a:srgbClr val="E2DCCD"/>
            </a:solidFill>
            <a:prstDash val="solid"/>
          </a:ln>
        </p:spPr>
      </p:sp>
      <p:graphicFrame>
        <p:nvGraphicFramePr>
          <p:cNvPr id="6" name="Chart 0" descr=""/>
          <p:cNvGraphicFramePr/>
          <p:nvPr/>
        </p:nvGraphicFramePr>
        <p:xfrm>
          <a:off x="777240" y="1417320"/>
          <a:ext cx="6126480" cy="45720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7406640" y="1463040"/>
            <a:ext cx="4114800" cy="640080"/>
          </a:xfrm>
          <a:prstGeom prst="rect">
            <a:avLst/>
          </a:prstGeom>
          <a:noFill/>
          <a:ln/>
        </p:spPr>
        <p:txBody>
          <a:bodyPr wrap="square" lIns="0" tIns="0" rIns="0" bIns="0" rtlCol="0" anchor="ctr"/>
          <a:lstStyle/>
          <a:p>
            <a:pPr indent="0" marL="0">
              <a:buNone/>
            </a:pPr>
            <a:r>
              <a:rPr lang="en-US" sz="3600" b="1" dirty="0">
                <a:solidFill>
                  <a:srgbClr val="D9A13B"/>
                </a:solidFill>
                <a:latin typeface="Space Grotesk" pitchFamily="34" charset="0"/>
                <a:ea typeface="Space Grotesk" pitchFamily="34" charset="-122"/>
                <a:cs typeface="Space Grotesk" pitchFamily="34" charset="-120"/>
              </a:rPr>
              <a:t>100%</a:t>
            </a:r>
            <a:endParaRPr lang="en-US" sz="3600" dirty="0"/>
          </a:p>
        </p:txBody>
      </p:sp>
      <p:sp>
        <p:nvSpPr>
          <p:cNvPr id="8" name="Text 5"/>
          <p:cNvSpPr txBox="1"/>
          <p:nvPr/>
        </p:nvSpPr>
        <p:spPr>
          <a:xfrm>
            <a:off x="7406640" y="2121408"/>
            <a:ext cx="4114800" cy="640080"/>
          </a:xfrm>
          <a:prstGeom prst="rect">
            <a:avLst/>
          </a:prstGeom>
          <a:noFill/>
          <a:ln/>
        </p:spPr>
        <p:txBody>
          <a:bodyPr wrap="square" lIns="0" tIns="0" rIns="0" bIns="0" rtlCol="0" anchor="t"/>
          <a:lstStyle/>
          <a:p>
            <a:pPr indent="0" marL="0">
              <a:buNone/>
            </a:pPr>
            <a:r>
              <a:rPr lang="en-US" sz="1400" dirty="0">
                <a:solidFill>
                  <a:srgbClr val="1D2521"/>
                </a:solidFill>
                <a:latin typeface="Inter" pitchFamily="34" charset="0"/>
                <a:ea typeface="Inter" pitchFamily="34" charset="-122"/>
                <a:cs typeface="Inter" pitchFamily="34" charset="-120"/>
              </a:rPr>
              <a:t>Medium vs Easy, 97 of 100 by gammon</a:t>
            </a:r>
            <a:endParaRPr lang="en-US" sz="1400" dirty="0"/>
          </a:p>
        </p:txBody>
      </p:sp>
      <p:sp>
        <p:nvSpPr>
          <p:cNvPr id="9" name="Text 6"/>
          <p:cNvSpPr txBox="1"/>
          <p:nvPr/>
        </p:nvSpPr>
        <p:spPr>
          <a:xfrm>
            <a:off x="7406640" y="2926080"/>
            <a:ext cx="4114800" cy="640080"/>
          </a:xfrm>
          <a:prstGeom prst="rect">
            <a:avLst/>
          </a:prstGeom>
          <a:noFill/>
          <a:ln/>
        </p:spPr>
        <p:txBody>
          <a:bodyPr wrap="square" lIns="0" tIns="0" rIns="0" bIns="0" rtlCol="0" anchor="ctr"/>
          <a:lstStyle/>
          <a:p>
            <a:pPr indent="0" marL="0">
              <a:buNone/>
            </a:pPr>
            <a:r>
              <a:rPr lang="en-US" sz="3600" b="1" dirty="0">
                <a:solidFill>
                  <a:srgbClr val="B5443D"/>
                </a:solidFill>
                <a:latin typeface="Space Grotesk" pitchFamily="34" charset="0"/>
                <a:ea typeface="Space Grotesk" pitchFamily="34" charset="-122"/>
                <a:cs typeface="Space Grotesk" pitchFamily="34" charset="-120"/>
              </a:rPr>
              <a:t>100%</a:t>
            </a:r>
            <a:endParaRPr lang="en-US" sz="3600" dirty="0"/>
          </a:p>
        </p:txBody>
      </p:sp>
      <p:sp>
        <p:nvSpPr>
          <p:cNvPr id="10" name="Text 7"/>
          <p:cNvSpPr txBox="1"/>
          <p:nvPr/>
        </p:nvSpPr>
        <p:spPr>
          <a:xfrm>
            <a:off x="7406640" y="3584448"/>
            <a:ext cx="4114800" cy="640080"/>
          </a:xfrm>
          <a:prstGeom prst="rect">
            <a:avLst/>
          </a:prstGeom>
          <a:noFill/>
          <a:ln/>
        </p:spPr>
        <p:txBody>
          <a:bodyPr wrap="square" lIns="0" tIns="0" rIns="0" bIns="0" rtlCol="0" anchor="t"/>
          <a:lstStyle/>
          <a:p>
            <a:pPr indent="0" marL="0">
              <a:buNone/>
            </a:pPr>
            <a:r>
              <a:rPr lang="en-US" sz="1400" dirty="0">
                <a:solidFill>
                  <a:srgbClr val="1D2521"/>
                </a:solidFill>
                <a:latin typeface="Inter" pitchFamily="34" charset="0"/>
                <a:ea typeface="Inter" pitchFamily="34" charset="-122"/>
                <a:cs typeface="Inter" pitchFamily="34" charset="-120"/>
              </a:rPr>
              <a:t>Hard vs Easy</a:t>
            </a:r>
            <a:endParaRPr lang="en-US" sz="1400" dirty="0"/>
          </a:p>
        </p:txBody>
      </p:sp>
      <p:sp>
        <p:nvSpPr>
          <p:cNvPr id="11" name="Text 8"/>
          <p:cNvSpPr txBox="1"/>
          <p:nvPr/>
        </p:nvSpPr>
        <p:spPr>
          <a:xfrm>
            <a:off x="7406640" y="4389120"/>
            <a:ext cx="4114800" cy="640080"/>
          </a:xfrm>
          <a:prstGeom prst="rect">
            <a:avLst/>
          </a:prstGeom>
          <a:noFill/>
          <a:ln/>
        </p:spPr>
        <p:txBody>
          <a:bodyPr wrap="square" lIns="0" tIns="0" rIns="0" bIns="0" rtlCol="0" anchor="ctr"/>
          <a:lstStyle/>
          <a:p>
            <a:pPr indent="0" marL="0">
              <a:buNone/>
            </a:pPr>
            <a:r>
              <a:rPr lang="en-US" sz="3600" b="1" dirty="0">
                <a:solidFill>
                  <a:srgbClr val="B5443D"/>
                </a:solidFill>
                <a:latin typeface="Space Grotesk" pitchFamily="34" charset="0"/>
                <a:ea typeface="Space Grotesk" pitchFamily="34" charset="-122"/>
                <a:cs typeface="Space Grotesk" pitchFamily="34" charset="-120"/>
              </a:rPr>
              <a:t>55.5%</a:t>
            </a:r>
            <a:endParaRPr lang="en-US" sz="3600" dirty="0"/>
          </a:p>
        </p:txBody>
      </p:sp>
      <p:sp>
        <p:nvSpPr>
          <p:cNvPr id="12" name="Text 9"/>
          <p:cNvSpPr txBox="1"/>
          <p:nvPr/>
        </p:nvSpPr>
        <p:spPr>
          <a:xfrm>
            <a:off x="7406640" y="5047488"/>
            <a:ext cx="4114800" cy="640080"/>
          </a:xfrm>
          <a:prstGeom prst="rect">
            <a:avLst/>
          </a:prstGeom>
          <a:noFill/>
          <a:ln/>
        </p:spPr>
        <p:txBody>
          <a:bodyPr wrap="square" lIns="0" tIns="0" rIns="0" bIns="0" rtlCol="0" anchor="t"/>
          <a:lstStyle/>
          <a:p>
            <a:pPr indent="0" marL="0">
              <a:buNone/>
            </a:pPr>
            <a:r>
              <a:rPr lang="en-US" sz="1400" dirty="0">
                <a:solidFill>
                  <a:srgbClr val="1D2521"/>
                </a:solidFill>
                <a:latin typeface="Inter" pitchFamily="34" charset="0"/>
                <a:ea typeface="Inter" pitchFamily="34" charset="-122"/>
                <a:cs typeface="Inter" pitchFamily="34" charset="-120"/>
              </a:rPr>
              <a:t>Hard vs Medium over 200 games (two runs: 52% and 59%)</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4EFE4"/>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indent="0" marL="0">
              <a:buNone/>
            </a:pPr>
            <a:r>
              <a:rPr lang="en-US" sz="2800" b="1" dirty="0">
                <a:solidFill>
                  <a:srgbClr val="1D2521"/>
                </a:solidFill>
                <a:latin typeface="Space Grotesk" pitchFamily="34" charset="0"/>
                <a:ea typeface="Space Grotesk" pitchFamily="34" charset="-122"/>
                <a:cs typeface="Space Grotesk" pitchFamily="34" charset="-120"/>
              </a:rPr>
              <a:t>Strength costs time</a:t>
            </a:r>
            <a:endParaRPr lang="en-US" sz="2800" dirty="0"/>
          </a:p>
        </p:txBody>
      </p:sp>
      <p:sp>
        <p:nvSpPr>
          <p:cNvPr id="3" name="Text 1"/>
          <p:cNvSpPr txBox="1"/>
          <p:nvPr/>
        </p:nvSpPr>
        <p:spPr>
          <a:xfrm>
            <a:off x="640080" y="6355080"/>
            <a:ext cx="7315200" cy="228600"/>
          </a:xfrm>
          <a:prstGeom prst="rect">
            <a:avLst/>
          </a:prstGeom>
          <a:noFill/>
          <a:ln/>
        </p:spPr>
        <p:txBody>
          <a:bodyPr wrap="square" lIns="0" tIns="0" rIns="0" bIns="0" rtlCol="0" anchor="ctr"/>
          <a:lstStyle/>
          <a:p>
            <a:pPr indent="0" marL="0">
              <a:buNone/>
            </a:pPr>
            <a:r>
              <a:rPr lang="en-US" sz="900" dirty="0">
                <a:solidFill>
                  <a:srgbClr val="5D6A64"/>
                </a:solidFill>
                <a:latin typeface="Inter" pitchFamily="34" charset="0"/>
                <a:ea typeface="Inter" pitchFamily="34" charset="-122"/>
                <a:cs typeface="Inter" pitchFamily="34" charset="-120"/>
              </a:rPr>
              <a:t>Krishna Mahajan (106wucww) · 5ENT1140 AI Principles</a:t>
            </a:r>
            <a:endParaRPr lang="en-US" sz="900" dirty="0"/>
          </a:p>
        </p:txBody>
      </p:sp>
      <p:sp>
        <p:nvSpPr>
          <p:cNvPr id="4" name="Text 2"/>
          <p:cNvSpPr txBox="1"/>
          <p:nvPr/>
        </p:nvSpPr>
        <p:spPr>
          <a:xfrm>
            <a:off x="10881360" y="6355080"/>
            <a:ext cx="640080" cy="228600"/>
          </a:xfrm>
          <a:prstGeom prst="rect">
            <a:avLst/>
          </a:prstGeom>
          <a:noFill/>
          <a:ln/>
        </p:spPr>
        <p:txBody>
          <a:bodyPr wrap="square" lIns="0" tIns="0" rIns="0" bIns="0" rtlCol="0" anchor="ctr"/>
          <a:lstStyle/>
          <a:p>
            <a:pPr algn="r" indent="0" marL="0">
              <a:buNone/>
            </a:pPr>
            <a:r>
              <a:rPr lang="en-US" sz="900" dirty="0">
                <a:solidFill>
                  <a:srgbClr val="5D6A64"/>
                </a:solidFill>
                <a:latin typeface="Inter" pitchFamily="34" charset="0"/>
                <a:ea typeface="Inter" pitchFamily="34" charset="-122"/>
                <a:cs typeface="Inter" pitchFamily="34" charset="-120"/>
              </a:rPr>
              <a:t>13</a:t>
            </a:r>
            <a:endParaRPr lang="en-US" sz="900" dirty="0"/>
          </a:p>
        </p:txBody>
      </p:sp>
      <p:sp>
        <p:nvSpPr>
          <p:cNvPr id="5" name="Text 3"/>
          <p:cNvSpPr txBox="1"/>
          <p:nvPr/>
        </p:nvSpPr>
        <p:spPr>
          <a:xfrm>
            <a:off x="640080" y="1463040"/>
            <a:ext cx="4206240" cy="1645920"/>
          </a:xfrm>
          <a:prstGeom prst="rect">
            <a:avLst/>
          </a:prstGeom>
          <a:noFill/>
          <a:ln/>
        </p:spPr>
        <p:txBody>
          <a:bodyPr wrap="square" lIns="0" tIns="0" rIns="0" bIns="0" rtlCol="0" anchor="t"/>
          <a:lstStyle/>
          <a:p>
            <a:pPr indent="0" marL="0">
              <a:buNone/>
            </a:pPr>
            <a:r>
              <a:rPr lang="en-US" sz="1800" dirty="0">
                <a:solidFill>
                  <a:srgbClr val="1D2521"/>
                </a:solidFill>
                <a:latin typeface="Inter" pitchFamily="34" charset="0"/>
                <a:ea typeface="Inter" pitchFamily="34" charset="-122"/>
                <a:cs typeface="Inter" pitchFamily="34" charset="-120"/>
              </a:rPr>
              <a:t>Exploring more candidate moves raises the Hard AI's win rate against Medium from </a:t>
            </a:r>
            <a:pPr indent="0" marL="0">
              <a:buNone/>
            </a:pPr>
            <a:r>
              <a:rPr lang="en-US" sz="1800" b="1" dirty="0">
                <a:solidFill>
                  <a:srgbClr val="B5443D"/>
                </a:solidFill>
                <a:latin typeface="Inter" pitchFamily="34" charset="0"/>
                <a:ea typeface="Inter" pitchFamily="34" charset="-122"/>
                <a:cs typeface="Inter" pitchFamily="34" charset="-120"/>
              </a:rPr>
              <a:t>47.5%</a:t>
            </a:r>
            <a:pPr indent="0" marL="0">
              <a:buNone/>
            </a:pPr>
            <a:r>
              <a:rPr lang="en-US" sz="1800" dirty="0">
                <a:solidFill>
                  <a:srgbClr val="1D2521"/>
                </a:solidFill>
                <a:latin typeface="Inter" pitchFamily="34" charset="0"/>
                <a:ea typeface="Inter" pitchFamily="34" charset="-122"/>
                <a:cs typeface="Inter" pitchFamily="34" charset="-120"/>
              </a:rPr>
              <a:t> to </a:t>
            </a:r>
            <a:pPr indent="0" marL="0">
              <a:buNone/>
            </a:pPr>
            <a:r>
              <a:rPr lang="en-US" sz="1800" b="1" dirty="0">
                <a:solidFill>
                  <a:srgbClr val="B5443D"/>
                </a:solidFill>
                <a:latin typeface="Inter" pitchFamily="34" charset="0"/>
                <a:ea typeface="Inter" pitchFamily="34" charset="-122"/>
                <a:cs typeface="Inter" pitchFamily="34" charset="-120"/>
              </a:rPr>
              <a:t>65%</a:t>
            </a:r>
            <a:pPr indent="0" marL="0">
              <a:buNone/>
            </a:pPr>
            <a:r>
              <a:rPr lang="en-US" sz="1800" dirty="0">
                <a:solidFill>
                  <a:srgbClr val="1D2521"/>
                </a:solidFill>
                <a:latin typeface="Inter" pitchFamily="34" charset="0"/>
                <a:ea typeface="Inter" pitchFamily="34" charset="-122"/>
                <a:cs typeface="Inter" pitchFamily="34" charset="-120"/>
              </a:rPr>
              <a:t>, but thinking time rises with it.</a:t>
            </a:r>
            <a:endParaRPr lang="en-US" sz="1800" dirty="0"/>
          </a:p>
        </p:txBody>
      </p:sp>
      <p:sp>
        <p:nvSpPr>
          <p:cNvPr id="6" name="Text 4"/>
          <p:cNvSpPr txBox="1"/>
          <p:nvPr/>
        </p:nvSpPr>
        <p:spPr>
          <a:xfrm>
            <a:off x="640080" y="3291840"/>
            <a:ext cx="4206240" cy="822960"/>
          </a:xfrm>
          <a:prstGeom prst="rect">
            <a:avLst/>
          </a:prstGeom>
          <a:noFill/>
          <a:ln/>
        </p:spPr>
        <p:txBody>
          <a:bodyPr wrap="square" lIns="0" tIns="0" rIns="0" bIns="0" rtlCol="0" anchor="t"/>
          <a:lstStyle/>
          <a:p>
            <a:pPr indent="0" marL="0">
              <a:buNone/>
            </a:pPr>
            <a:r>
              <a:rPr lang="en-US" sz="1500" dirty="0">
                <a:solidFill>
                  <a:srgbClr val="5D6A64"/>
                </a:solidFill>
                <a:latin typeface="Inter" pitchFamily="34" charset="0"/>
                <a:ea typeface="Inter" pitchFamily="34" charset="-122"/>
                <a:cs typeface="Inter" pitchFamily="34" charset="-120"/>
              </a:rPr>
              <a:t>Beam of 6 chosen to stay well under a second per move in the browser.</a:t>
            </a:r>
            <a:endParaRPr lang="en-US" sz="1500" dirty="0"/>
          </a:p>
        </p:txBody>
      </p:sp>
      <p:sp>
        <p:nvSpPr>
          <p:cNvPr id="7" name="Shape 5"/>
          <p:cNvSpPr/>
          <p:nvPr/>
        </p:nvSpPr>
        <p:spPr>
          <a:xfrm>
            <a:off x="5212080" y="1371600"/>
            <a:ext cx="6309360" cy="4206240"/>
          </a:xfrm>
          <a:prstGeom prst="rect">
            <a:avLst/>
          </a:prstGeom>
          <a:solidFill>
            <a:srgbClr val="FFFFFF"/>
          </a:solidFill>
          <a:ln w="12700">
            <a:solidFill>
              <a:srgbClr val="E2DCCD"/>
            </a:solidFill>
            <a:prstDash val="solid"/>
          </a:ln>
        </p:spPr>
      </p:sp>
      <p:pic>
        <p:nvPicPr>
          <p:cNvPr id="8" name="Image 0" descr="image-10-1.png">    </p:cNvPr>
          <p:cNvPicPr>
            <a:picLocks noChangeAspect="1"/>
          </p:cNvPicPr>
          <p:nvPr/>
        </p:nvPicPr>
        <p:blipFill>
          <a:blip r:embed="rId1"/>
          <a:stretch>
            <a:fillRect/>
          </a:stretch>
        </p:blipFill>
        <p:spPr>
          <a:xfrm>
            <a:off x="5349240" y="1664208"/>
            <a:ext cx="6035040" cy="362102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4EFE4"/>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indent="0" marL="0">
              <a:buNone/>
            </a:pPr>
            <a:r>
              <a:rPr lang="en-US" sz="2800" b="1" dirty="0">
                <a:solidFill>
                  <a:srgbClr val="1D2521"/>
                </a:solidFill>
                <a:latin typeface="Space Grotesk" pitchFamily="34" charset="0"/>
                <a:ea typeface="Space Grotesk" pitchFamily="34" charset="-122"/>
                <a:cs typeface="Space Grotesk" pitchFamily="34" charset="-120"/>
              </a:rPr>
              <a:t>Challenges solved</a:t>
            </a:r>
            <a:endParaRPr lang="en-US" sz="2800" dirty="0"/>
          </a:p>
        </p:txBody>
      </p:sp>
      <p:sp>
        <p:nvSpPr>
          <p:cNvPr id="3" name="Text 1"/>
          <p:cNvSpPr txBox="1"/>
          <p:nvPr/>
        </p:nvSpPr>
        <p:spPr>
          <a:xfrm>
            <a:off x="640080" y="6355080"/>
            <a:ext cx="7315200" cy="228600"/>
          </a:xfrm>
          <a:prstGeom prst="rect">
            <a:avLst/>
          </a:prstGeom>
          <a:noFill/>
          <a:ln/>
        </p:spPr>
        <p:txBody>
          <a:bodyPr wrap="square" lIns="0" tIns="0" rIns="0" bIns="0" rtlCol="0" anchor="ctr"/>
          <a:lstStyle/>
          <a:p>
            <a:pPr indent="0" marL="0">
              <a:buNone/>
            </a:pPr>
            <a:r>
              <a:rPr lang="en-US" sz="900" dirty="0">
                <a:solidFill>
                  <a:srgbClr val="5D6A64"/>
                </a:solidFill>
                <a:latin typeface="Inter" pitchFamily="34" charset="0"/>
                <a:ea typeface="Inter" pitchFamily="34" charset="-122"/>
                <a:cs typeface="Inter" pitchFamily="34" charset="-120"/>
              </a:rPr>
              <a:t>Krishna Mahajan (106wucww) · 5ENT1140 AI Principles</a:t>
            </a:r>
            <a:endParaRPr lang="en-US" sz="900" dirty="0"/>
          </a:p>
        </p:txBody>
      </p:sp>
      <p:sp>
        <p:nvSpPr>
          <p:cNvPr id="4" name="Text 2"/>
          <p:cNvSpPr txBox="1"/>
          <p:nvPr/>
        </p:nvSpPr>
        <p:spPr>
          <a:xfrm>
            <a:off x="10881360" y="6355080"/>
            <a:ext cx="640080" cy="228600"/>
          </a:xfrm>
          <a:prstGeom prst="rect">
            <a:avLst/>
          </a:prstGeom>
          <a:noFill/>
          <a:ln/>
        </p:spPr>
        <p:txBody>
          <a:bodyPr wrap="square" lIns="0" tIns="0" rIns="0" bIns="0" rtlCol="0" anchor="ctr"/>
          <a:lstStyle/>
          <a:p>
            <a:pPr algn="r" indent="0" marL="0">
              <a:buNone/>
            </a:pPr>
            <a:r>
              <a:rPr lang="en-US" sz="900" dirty="0">
                <a:solidFill>
                  <a:srgbClr val="5D6A64"/>
                </a:solidFill>
                <a:latin typeface="Inter" pitchFamily="34" charset="0"/>
                <a:ea typeface="Inter" pitchFamily="34" charset="-122"/>
                <a:cs typeface="Inter" pitchFamily="34" charset="-120"/>
              </a:rPr>
              <a:t>14</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1463040"/>
          <a:ext cx="10881360" cy="914400"/>
        </p:xfrm>
        <a:graphic>
          <a:graphicData uri="http://schemas.openxmlformats.org/drawingml/2006/table">
            <a:tbl>
              <a:tblPr/>
              <a:tblGrid>
                <a:gridCol w="4754880"/>
                <a:gridCol w="6126480"/>
              </a:tblGrid>
              <a:tr h="640080">
                <a:tc>
                  <a:txBody>
                    <a:bodyPr/>
                    <a:lstStyle/>
                    <a:p>
                      <a:pPr indent="0" marL="0">
                        <a:buNone/>
                      </a:pPr>
                      <a:r>
                        <a:rPr lang="en-US" sz="1600" b="1" dirty="0">
                          <a:solidFill>
                            <a:srgbClr val="5D6A64"/>
                          </a:solidFill>
                          <a:latin typeface="Inter" pitchFamily="34" charset="0"/>
                          <a:ea typeface="Inter" pitchFamily="34" charset="-122"/>
                          <a:cs typeface="Inter" pitchFamily="34" charset="-120"/>
                        </a:rPr>
                        <a:t>Problem</a:t>
                      </a:r>
                      <a:endParaRPr lang="en-US" sz="1600" dirty="0">
                        <a:latin typeface="Inter" charset="0"/>
                        <a:ea typeface="Inter" charset="0"/>
                        <a:cs typeface="Inter" charset="0"/>
                      </a:endParaRPr>
                    </a:p>
                  </a:txBody>
                  <a:tcPr marL="127000" marR="127000" marT="50800" marB="50800" anchor="ctr">
                    <a:lnL w="9525" cap="flat" cmpd="sng" algn="ctr">
                      <a:solidFill>
                        <a:srgbClr val="E2DCCD"/>
                      </a:solidFill>
                      <a:prstDash val="solid"/>
                      <a:round/>
                      <a:headEnd type="none" w="med" len="med"/>
                      <a:tailEnd type="none" w="med" len="med"/>
                    </a:lnL>
                    <a:lnR w="9525" cap="flat" cmpd="sng" algn="ctr">
                      <a:solidFill>
                        <a:srgbClr val="E2DCCD"/>
                      </a:solidFill>
                      <a:prstDash val="solid"/>
                      <a:round/>
                      <a:headEnd type="none" w="med" len="med"/>
                      <a:tailEnd type="none" w="med" len="med"/>
                    </a:lnR>
                    <a:lnT w="9525" cap="flat" cmpd="sng" algn="ctr">
                      <a:solidFill>
                        <a:srgbClr val="E2DCCD"/>
                      </a:solidFill>
                      <a:prstDash val="solid"/>
                      <a:round/>
                      <a:headEnd type="none" w="med" len="med"/>
                      <a:tailEnd type="none" w="med" len="med"/>
                    </a:lnT>
                    <a:lnB w="9525" cap="flat" cmpd="sng" algn="ctr">
                      <a:solidFill>
                        <a:srgbClr val="E2DCCD"/>
                      </a:solidFill>
                      <a:prstDash val="solid"/>
                      <a:round/>
                      <a:headEnd type="none" w="med" len="med"/>
                      <a:tailEnd type="none" w="med" len="med"/>
                    </a:lnB>
                    <a:solidFill>
                      <a:srgbClr val="E2DCCD"/>
                    </a:solidFill>
                  </a:tcPr>
                </a:tc>
                <a:tc>
                  <a:txBody>
                    <a:bodyPr/>
                    <a:lstStyle/>
                    <a:p>
                      <a:pPr indent="0" marL="0">
                        <a:buNone/>
                      </a:pPr>
                      <a:r>
                        <a:rPr lang="en-US" sz="1600" b="1" dirty="0">
                          <a:solidFill>
                            <a:srgbClr val="5D6A64"/>
                          </a:solidFill>
                          <a:latin typeface="Inter" pitchFamily="34" charset="0"/>
                          <a:ea typeface="Inter" pitchFamily="34" charset="-122"/>
                          <a:cs typeface="Inter" pitchFamily="34" charset="-120"/>
                        </a:rPr>
                        <a:t>Fix</a:t>
                      </a:r>
                      <a:endParaRPr lang="en-US" sz="1600" dirty="0">
                        <a:latin typeface="Inter" charset="0"/>
                        <a:ea typeface="Inter" charset="0"/>
                        <a:cs typeface="Inter" charset="0"/>
                      </a:endParaRPr>
                    </a:p>
                  </a:txBody>
                  <a:tcPr marL="127000" marR="127000" marT="50800" marB="50800" anchor="ctr">
                    <a:lnL w="9525" cap="flat" cmpd="sng" algn="ctr">
                      <a:solidFill>
                        <a:srgbClr val="E2DCCD"/>
                      </a:solidFill>
                      <a:prstDash val="solid"/>
                      <a:round/>
                      <a:headEnd type="none" w="med" len="med"/>
                      <a:tailEnd type="none" w="med" len="med"/>
                    </a:lnL>
                    <a:lnR w="9525" cap="flat" cmpd="sng" algn="ctr">
                      <a:solidFill>
                        <a:srgbClr val="E2DCCD"/>
                      </a:solidFill>
                      <a:prstDash val="solid"/>
                      <a:round/>
                      <a:headEnd type="none" w="med" len="med"/>
                      <a:tailEnd type="none" w="med" len="med"/>
                    </a:lnR>
                    <a:lnT w="9525" cap="flat" cmpd="sng" algn="ctr">
                      <a:solidFill>
                        <a:srgbClr val="E2DCCD"/>
                      </a:solidFill>
                      <a:prstDash val="solid"/>
                      <a:round/>
                      <a:headEnd type="none" w="med" len="med"/>
                      <a:tailEnd type="none" w="med" len="med"/>
                    </a:lnT>
                    <a:lnB w="9525" cap="flat" cmpd="sng" algn="ctr">
                      <a:solidFill>
                        <a:srgbClr val="E2DCCD"/>
                      </a:solidFill>
                      <a:prstDash val="solid"/>
                      <a:round/>
                      <a:headEnd type="none" w="med" len="med"/>
                      <a:tailEnd type="none" w="med" len="med"/>
                    </a:lnB>
                    <a:solidFill>
                      <a:srgbClr val="E2DCCD"/>
                    </a:solidFill>
                  </a:tcPr>
                </a:tc>
              </a:tr>
              <a:tr h="640080">
                <a:tc>
                  <a:txBody>
                    <a:bodyPr/>
                    <a:lstStyle/>
                    <a:p>
                      <a:pPr indent="0" marL="0">
                        <a:buNone/>
                      </a:pPr>
                      <a:r>
                        <a:rPr lang="en-US" sz="1600" dirty="0">
                          <a:solidFill>
                            <a:srgbClr val="1D2521"/>
                          </a:solidFill>
                          <a:latin typeface="Inter" pitchFamily="34" charset="0"/>
                          <a:ea typeface="Inter" pitchFamily="34" charset="-122"/>
                          <a:cs typeface="Inter" pitchFamily="34" charset="-120"/>
                        </a:rPr>
                        <a:t>Must use both dice, larger-die rule</a:t>
                      </a:r>
                      <a:endParaRPr lang="en-US" sz="1600" dirty="0">
                        <a:latin typeface="Inter" charset="0"/>
                        <a:ea typeface="Inter" charset="0"/>
                        <a:cs typeface="Inter" charset="0"/>
                      </a:endParaRPr>
                    </a:p>
                  </a:txBody>
                  <a:tcPr marL="127000" marR="127000" marT="50800" marB="50800" anchor="ctr">
                    <a:lnL w="9525" cap="flat" cmpd="sng" algn="ctr">
                      <a:solidFill>
                        <a:srgbClr val="E2DCCD"/>
                      </a:solidFill>
                      <a:prstDash val="solid"/>
                      <a:round/>
                      <a:headEnd type="none" w="med" len="med"/>
                      <a:tailEnd type="none" w="med" len="med"/>
                    </a:lnL>
                    <a:lnR w="9525" cap="flat" cmpd="sng" algn="ctr">
                      <a:solidFill>
                        <a:srgbClr val="E2DCCD"/>
                      </a:solidFill>
                      <a:prstDash val="solid"/>
                      <a:round/>
                      <a:headEnd type="none" w="med" len="med"/>
                      <a:tailEnd type="none" w="med" len="med"/>
                    </a:lnR>
                    <a:lnT w="9525" cap="flat" cmpd="sng" algn="ctr">
                      <a:solidFill>
                        <a:srgbClr val="E2DCCD"/>
                      </a:solidFill>
                      <a:prstDash val="solid"/>
                      <a:round/>
                      <a:headEnd type="none" w="med" len="med"/>
                      <a:tailEnd type="none" w="med" len="med"/>
                    </a:lnT>
                    <a:lnB w="9525" cap="flat" cmpd="sng" algn="ctr">
                      <a:solidFill>
                        <a:srgbClr val="E2DCCD"/>
                      </a:solidFill>
                      <a:prstDash val="solid"/>
                      <a:round/>
                      <a:headEnd type="none" w="med" len="med"/>
                      <a:tailEnd type="none" w="med" len="med"/>
                    </a:lnB>
                    <a:solidFill>
                      <a:srgbClr val="FBF8F1"/>
                    </a:solidFill>
                  </a:tcPr>
                </a:tc>
                <a:tc>
                  <a:txBody>
                    <a:bodyPr/>
                    <a:lstStyle/>
                    <a:p>
                      <a:pPr indent="0" marL="0">
                        <a:buNone/>
                      </a:pPr>
                      <a:r>
                        <a:rPr lang="en-US" sz="1600" dirty="0">
                          <a:solidFill>
                            <a:srgbClr val="1D2521"/>
                          </a:solidFill>
                          <a:latin typeface="Inter" pitchFamily="34" charset="0"/>
                          <a:ea typeface="Inter" pitchFamily="34" charset="-122"/>
                          <a:cs typeface="Inter" pitchFamily="34" charset="-120"/>
                        </a:rPr>
                        <a:t>Generate complete turns, not single moves</a:t>
                      </a:r>
                      <a:endParaRPr lang="en-US" sz="1600" dirty="0">
                        <a:latin typeface="Inter" charset="0"/>
                        <a:ea typeface="Inter" charset="0"/>
                        <a:cs typeface="Inter" charset="0"/>
                      </a:endParaRPr>
                    </a:p>
                  </a:txBody>
                  <a:tcPr marL="127000" marR="127000" marT="50800" marB="50800" anchor="ctr">
                    <a:lnL w="9525" cap="flat" cmpd="sng" algn="ctr">
                      <a:solidFill>
                        <a:srgbClr val="E2DCCD"/>
                      </a:solidFill>
                      <a:prstDash val="solid"/>
                      <a:round/>
                      <a:headEnd type="none" w="med" len="med"/>
                      <a:tailEnd type="none" w="med" len="med"/>
                    </a:lnL>
                    <a:lnR w="9525" cap="flat" cmpd="sng" algn="ctr">
                      <a:solidFill>
                        <a:srgbClr val="E2DCCD"/>
                      </a:solidFill>
                      <a:prstDash val="solid"/>
                      <a:round/>
                      <a:headEnd type="none" w="med" len="med"/>
                      <a:tailEnd type="none" w="med" len="med"/>
                    </a:lnR>
                    <a:lnT w="9525" cap="flat" cmpd="sng" algn="ctr">
                      <a:solidFill>
                        <a:srgbClr val="E2DCCD"/>
                      </a:solidFill>
                      <a:prstDash val="solid"/>
                      <a:round/>
                      <a:headEnd type="none" w="med" len="med"/>
                      <a:tailEnd type="none" w="med" len="med"/>
                    </a:lnT>
                    <a:lnB w="9525" cap="flat" cmpd="sng" algn="ctr">
                      <a:solidFill>
                        <a:srgbClr val="E2DCCD"/>
                      </a:solidFill>
                      <a:prstDash val="solid"/>
                      <a:round/>
                      <a:headEnd type="none" w="med" len="med"/>
                      <a:tailEnd type="none" w="med" len="med"/>
                    </a:lnB>
                    <a:solidFill>
                      <a:srgbClr val="FBF8F1"/>
                    </a:solidFill>
                  </a:tcPr>
                </a:tc>
              </a:tr>
              <a:tr h="640080">
                <a:tc>
                  <a:txBody>
                    <a:bodyPr/>
                    <a:lstStyle/>
                    <a:p>
                      <a:pPr indent="0" marL="0">
                        <a:buNone/>
                      </a:pPr>
                      <a:r>
                        <a:rPr lang="en-US" sz="1600" dirty="0">
                          <a:solidFill>
                            <a:srgbClr val="1D2521"/>
                          </a:solidFill>
                          <a:latin typeface="Inter" pitchFamily="34" charset="0"/>
                          <a:ea typeface="Inter" pitchFamily="34" charset="-122"/>
                          <a:cs typeface="Inter" pitchFamily="34" charset="-120"/>
                        </a:rPr>
                        <a:t>Pygame crashed on Python 3.14</a:t>
                      </a:r>
                      <a:endParaRPr lang="en-US" sz="1600" dirty="0">
                        <a:latin typeface="Inter" charset="0"/>
                        <a:ea typeface="Inter" charset="0"/>
                        <a:cs typeface="Inter" charset="0"/>
                      </a:endParaRPr>
                    </a:p>
                  </a:txBody>
                  <a:tcPr marL="127000" marR="127000" marT="50800" marB="50800" anchor="ctr">
                    <a:lnL w="9525" cap="flat" cmpd="sng" algn="ctr">
                      <a:solidFill>
                        <a:srgbClr val="E2DCCD"/>
                      </a:solidFill>
                      <a:prstDash val="solid"/>
                      <a:round/>
                      <a:headEnd type="none" w="med" len="med"/>
                      <a:tailEnd type="none" w="med" len="med"/>
                    </a:lnL>
                    <a:lnR w="9525" cap="flat" cmpd="sng" algn="ctr">
                      <a:solidFill>
                        <a:srgbClr val="E2DCCD"/>
                      </a:solidFill>
                      <a:prstDash val="solid"/>
                      <a:round/>
                      <a:headEnd type="none" w="med" len="med"/>
                      <a:tailEnd type="none" w="med" len="med"/>
                    </a:lnR>
                    <a:lnT w="9525" cap="flat" cmpd="sng" algn="ctr">
                      <a:solidFill>
                        <a:srgbClr val="E2DCCD"/>
                      </a:solidFill>
                      <a:prstDash val="solid"/>
                      <a:round/>
                      <a:headEnd type="none" w="med" len="med"/>
                      <a:tailEnd type="none" w="med" len="med"/>
                    </a:lnT>
                    <a:lnB w="9525" cap="flat" cmpd="sng" algn="ctr">
                      <a:solidFill>
                        <a:srgbClr val="E2DCCD"/>
                      </a:solidFill>
                      <a:prstDash val="solid"/>
                      <a:round/>
                      <a:headEnd type="none" w="med" len="med"/>
                      <a:tailEnd type="none" w="med" len="med"/>
                    </a:lnB>
                    <a:solidFill>
                      <a:srgbClr val="FBF8F1"/>
                    </a:solidFill>
                  </a:tcPr>
                </a:tc>
                <a:tc>
                  <a:txBody>
                    <a:bodyPr/>
                    <a:lstStyle/>
                    <a:p>
                      <a:pPr indent="0" marL="0">
                        <a:buNone/>
                      </a:pPr>
                      <a:r>
                        <a:rPr lang="en-US" sz="1600" dirty="0">
                          <a:solidFill>
                            <a:srgbClr val="1D2521"/>
                          </a:solidFill>
                          <a:latin typeface="Inter" pitchFamily="34" charset="0"/>
                          <a:ea typeface="Inter" pitchFamily="34" charset="-122"/>
                          <a:cs typeface="Inter" pitchFamily="34" charset="-120"/>
                        </a:rPr>
                        <a:t>Switched to pygame-ce</a:t>
                      </a:r>
                      <a:endParaRPr lang="en-US" sz="1600" dirty="0">
                        <a:latin typeface="Inter" charset="0"/>
                        <a:ea typeface="Inter" charset="0"/>
                        <a:cs typeface="Inter" charset="0"/>
                      </a:endParaRPr>
                    </a:p>
                  </a:txBody>
                  <a:tcPr marL="127000" marR="127000" marT="50800" marB="50800" anchor="ctr">
                    <a:lnL w="9525" cap="flat" cmpd="sng" algn="ctr">
                      <a:solidFill>
                        <a:srgbClr val="E2DCCD"/>
                      </a:solidFill>
                      <a:prstDash val="solid"/>
                      <a:round/>
                      <a:headEnd type="none" w="med" len="med"/>
                      <a:tailEnd type="none" w="med" len="med"/>
                    </a:lnL>
                    <a:lnR w="9525" cap="flat" cmpd="sng" algn="ctr">
                      <a:solidFill>
                        <a:srgbClr val="E2DCCD"/>
                      </a:solidFill>
                      <a:prstDash val="solid"/>
                      <a:round/>
                      <a:headEnd type="none" w="med" len="med"/>
                      <a:tailEnd type="none" w="med" len="med"/>
                    </a:lnR>
                    <a:lnT w="9525" cap="flat" cmpd="sng" algn="ctr">
                      <a:solidFill>
                        <a:srgbClr val="E2DCCD"/>
                      </a:solidFill>
                      <a:prstDash val="solid"/>
                      <a:round/>
                      <a:headEnd type="none" w="med" len="med"/>
                      <a:tailEnd type="none" w="med" len="med"/>
                    </a:lnT>
                    <a:lnB w="9525" cap="flat" cmpd="sng" algn="ctr">
                      <a:solidFill>
                        <a:srgbClr val="E2DCCD"/>
                      </a:solidFill>
                      <a:prstDash val="solid"/>
                      <a:round/>
                      <a:headEnd type="none" w="med" len="med"/>
                      <a:tailEnd type="none" w="med" len="med"/>
                    </a:lnB>
                    <a:solidFill>
                      <a:srgbClr val="FBF8F1"/>
                    </a:solidFill>
                  </a:tcPr>
                </a:tc>
              </a:tr>
              <a:tr h="640080">
                <a:tc>
                  <a:txBody>
                    <a:bodyPr/>
                    <a:lstStyle/>
                    <a:p>
                      <a:pPr indent="0" marL="0">
                        <a:buNone/>
                      </a:pPr>
                      <a:r>
                        <a:rPr lang="en-US" sz="1600" dirty="0">
                          <a:solidFill>
                            <a:srgbClr val="1D2521"/>
                          </a:solidFill>
                          <a:latin typeface="Inter" pitchFamily="34" charset="0"/>
                          <a:ea typeface="Inter" pitchFamily="34" charset="-122"/>
                          <a:cs typeface="Inter" pitchFamily="34" charset="-120"/>
                        </a:rPr>
                        <a:t>Blank screen in the browser</a:t>
                      </a:r>
                      <a:endParaRPr lang="en-US" sz="1600" dirty="0">
                        <a:latin typeface="Inter" charset="0"/>
                        <a:ea typeface="Inter" charset="0"/>
                        <a:cs typeface="Inter" charset="0"/>
                      </a:endParaRPr>
                    </a:p>
                  </a:txBody>
                  <a:tcPr marL="127000" marR="127000" marT="50800" marB="50800" anchor="ctr">
                    <a:lnL w="9525" cap="flat" cmpd="sng" algn="ctr">
                      <a:solidFill>
                        <a:srgbClr val="E2DCCD"/>
                      </a:solidFill>
                      <a:prstDash val="solid"/>
                      <a:round/>
                      <a:headEnd type="none" w="med" len="med"/>
                      <a:tailEnd type="none" w="med" len="med"/>
                    </a:lnL>
                    <a:lnR w="9525" cap="flat" cmpd="sng" algn="ctr">
                      <a:solidFill>
                        <a:srgbClr val="E2DCCD"/>
                      </a:solidFill>
                      <a:prstDash val="solid"/>
                      <a:round/>
                      <a:headEnd type="none" w="med" len="med"/>
                      <a:tailEnd type="none" w="med" len="med"/>
                    </a:lnR>
                    <a:lnT w="9525" cap="flat" cmpd="sng" algn="ctr">
                      <a:solidFill>
                        <a:srgbClr val="E2DCCD"/>
                      </a:solidFill>
                      <a:prstDash val="solid"/>
                      <a:round/>
                      <a:headEnd type="none" w="med" len="med"/>
                      <a:tailEnd type="none" w="med" len="med"/>
                    </a:lnT>
                    <a:lnB w="9525" cap="flat" cmpd="sng" algn="ctr">
                      <a:solidFill>
                        <a:srgbClr val="E2DCCD"/>
                      </a:solidFill>
                      <a:prstDash val="solid"/>
                      <a:round/>
                      <a:headEnd type="none" w="med" len="med"/>
                      <a:tailEnd type="none" w="med" len="med"/>
                    </a:lnB>
                    <a:solidFill>
                      <a:srgbClr val="FBF8F1"/>
                    </a:solidFill>
                  </a:tcPr>
                </a:tc>
                <a:tc>
                  <a:txBody>
                    <a:bodyPr/>
                    <a:lstStyle/>
                    <a:p>
                      <a:pPr indent="0" marL="0">
                        <a:buNone/>
                      </a:pPr>
                      <a:r>
                        <a:rPr lang="en-US" sz="1600" dirty="0">
                          <a:solidFill>
                            <a:srgbClr val="1D2521"/>
                          </a:solidFill>
                          <a:latin typeface="Inter" pitchFamily="34" charset="0"/>
                          <a:ea typeface="Inter" pitchFamily="34" charset="-122"/>
                          <a:cs typeface="Inter" pitchFamily="34" charset="-120"/>
                        </a:rPr>
                        <a:t>Import Pygame in main.py so pygbag loads it</a:t>
                      </a:r>
                      <a:endParaRPr lang="en-US" sz="1600" dirty="0">
                        <a:latin typeface="Inter" charset="0"/>
                        <a:ea typeface="Inter" charset="0"/>
                        <a:cs typeface="Inter" charset="0"/>
                      </a:endParaRPr>
                    </a:p>
                  </a:txBody>
                  <a:tcPr marL="127000" marR="127000" marT="50800" marB="50800" anchor="ctr">
                    <a:lnL w="9525" cap="flat" cmpd="sng" algn="ctr">
                      <a:solidFill>
                        <a:srgbClr val="E2DCCD"/>
                      </a:solidFill>
                      <a:prstDash val="solid"/>
                      <a:round/>
                      <a:headEnd type="none" w="med" len="med"/>
                      <a:tailEnd type="none" w="med" len="med"/>
                    </a:lnL>
                    <a:lnR w="9525" cap="flat" cmpd="sng" algn="ctr">
                      <a:solidFill>
                        <a:srgbClr val="E2DCCD"/>
                      </a:solidFill>
                      <a:prstDash val="solid"/>
                      <a:round/>
                      <a:headEnd type="none" w="med" len="med"/>
                      <a:tailEnd type="none" w="med" len="med"/>
                    </a:lnR>
                    <a:lnT w="9525" cap="flat" cmpd="sng" algn="ctr">
                      <a:solidFill>
                        <a:srgbClr val="E2DCCD"/>
                      </a:solidFill>
                      <a:prstDash val="solid"/>
                      <a:round/>
                      <a:headEnd type="none" w="med" len="med"/>
                      <a:tailEnd type="none" w="med" len="med"/>
                    </a:lnT>
                    <a:lnB w="9525" cap="flat" cmpd="sng" algn="ctr">
                      <a:solidFill>
                        <a:srgbClr val="E2DCCD"/>
                      </a:solidFill>
                      <a:prstDash val="solid"/>
                      <a:round/>
                      <a:headEnd type="none" w="med" len="med"/>
                      <a:tailEnd type="none" w="med" len="med"/>
                    </a:lnB>
                    <a:solidFill>
                      <a:srgbClr val="FBF8F1"/>
                    </a:solidFill>
                  </a:tcPr>
                </a:tc>
              </a:tr>
              <a:tr h="640080">
                <a:tc>
                  <a:txBody>
                    <a:bodyPr/>
                    <a:lstStyle/>
                    <a:p>
                      <a:pPr indent="0" marL="0">
                        <a:buNone/>
                      </a:pPr>
                      <a:r>
                        <a:rPr lang="en-US" sz="1600" dirty="0">
                          <a:solidFill>
                            <a:srgbClr val="1D2521"/>
                          </a:solidFill>
                          <a:latin typeface="Inter" pitchFamily="34" charset="0"/>
                          <a:ea typeface="Inter" pitchFamily="34" charset="-122"/>
                          <a:cs typeface="Inter" pitchFamily="34" charset="-120"/>
                        </a:rPr>
                        <a:t>Browsers have no threads</a:t>
                      </a:r>
                      <a:endParaRPr lang="en-US" sz="1600" dirty="0">
                        <a:latin typeface="Inter" charset="0"/>
                        <a:ea typeface="Inter" charset="0"/>
                        <a:cs typeface="Inter" charset="0"/>
                      </a:endParaRPr>
                    </a:p>
                  </a:txBody>
                  <a:tcPr marL="127000" marR="127000" marT="50800" marB="50800" anchor="ctr">
                    <a:lnL w="9525" cap="flat" cmpd="sng" algn="ctr">
                      <a:solidFill>
                        <a:srgbClr val="E2DCCD"/>
                      </a:solidFill>
                      <a:prstDash val="solid"/>
                      <a:round/>
                      <a:headEnd type="none" w="med" len="med"/>
                      <a:tailEnd type="none" w="med" len="med"/>
                    </a:lnL>
                    <a:lnR w="9525" cap="flat" cmpd="sng" algn="ctr">
                      <a:solidFill>
                        <a:srgbClr val="E2DCCD"/>
                      </a:solidFill>
                      <a:prstDash val="solid"/>
                      <a:round/>
                      <a:headEnd type="none" w="med" len="med"/>
                      <a:tailEnd type="none" w="med" len="med"/>
                    </a:lnR>
                    <a:lnT w="9525" cap="flat" cmpd="sng" algn="ctr">
                      <a:solidFill>
                        <a:srgbClr val="E2DCCD"/>
                      </a:solidFill>
                      <a:prstDash val="solid"/>
                      <a:round/>
                      <a:headEnd type="none" w="med" len="med"/>
                      <a:tailEnd type="none" w="med" len="med"/>
                    </a:lnT>
                    <a:lnB w="9525" cap="flat" cmpd="sng" algn="ctr">
                      <a:solidFill>
                        <a:srgbClr val="E2DCCD"/>
                      </a:solidFill>
                      <a:prstDash val="solid"/>
                      <a:round/>
                      <a:headEnd type="none" w="med" len="med"/>
                      <a:tailEnd type="none" w="med" len="med"/>
                    </a:lnB>
                    <a:solidFill>
                      <a:srgbClr val="FBF8F1"/>
                    </a:solidFill>
                  </a:tcPr>
                </a:tc>
                <a:tc>
                  <a:txBody>
                    <a:bodyPr/>
                    <a:lstStyle/>
                    <a:p>
                      <a:pPr indent="0" marL="0">
                        <a:buNone/>
                      </a:pPr>
                      <a:r>
                        <a:rPr lang="en-US" sz="1600" dirty="0">
                          <a:solidFill>
                            <a:srgbClr val="1D2521"/>
                          </a:solidFill>
                          <a:latin typeface="Inter" pitchFamily="34" charset="0"/>
                          <a:ea typeface="Inter" pitchFamily="34" charset="-122"/>
                          <a:cs typeface="Inter" pitchFamily="34" charset="-120"/>
                        </a:rPr>
                        <a:t>Async main loop, AI runs between frames</a:t>
                      </a:r>
                      <a:endParaRPr lang="en-US" sz="1600" dirty="0">
                        <a:latin typeface="Inter" charset="0"/>
                        <a:ea typeface="Inter" charset="0"/>
                        <a:cs typeface="Inter" charset="0"/>
                      </a:endParaRPr>
                    </a:p>
                  </a:txBody>
                  <a:tcPr marL="127000" marR="127000" marT="50800" marB="50800" anchor="ctr">
                    <a:lnL w="9525" cap="flat" cmpd="sng" algn="ctr">
                      <a:solidFill>
                        <a:srgbClr val="E2DCCD"/>
                      </a:solidFill>
                      <a:prstDash val="solid"/>
                      <a:round/>
                      <a:headEnd type="none" w="med" len="med"/>
                      <a:tailEnd type="none" w="med" len="med"/>
                    </a:lnL>
                    <a:lnR w="9525" cap="flat" cmpd="sng" algn="ctr">
                      <a:solidFill>
                        <a:srgbClr val="E2DCCD"/>
                      </a:solidFill>
                      <a:prstDash val="solid"/>
                      <a:round/>
                      <a:headEnd type="none" w="med" len="med"/>
                      <a:tailEnd type="none" w="med" len="med"/>
                    </a:lnR>
                    <a:lnT w="9525" cap="flat" cmpd="sng" algn="ctr">
                      <a:solidFill>
                        <a:srgbClr val="E2DCCD"/>
                      </a:solidFill>
                      <a:prstDash val="solid"/>
                      <a:round/>
                      <a:headEnd type="none" w="med" len="med"/>
                      <a:tailEnd type="none" w="med" len="med"/>
                    </a:lnT>
                    <a:lnB w="9525" cap="flat" cmpd="sng" algn="ctr">
                      <a:solidFill>
                        <a:srgbClr val="E2DCCD"/>
                      </a:solidFill>
                      <a:prstDash val="solid"/>
                      <a:round/>
                      <a:headEnd type="none" w="med" len="med"/>
                      <a:tailEnd type="none" w="med" len="med"/>
                    </a:lnB>
                    <a:solidFill>
                      <a:srgbClr val="FBF8F1"/>
                    </a:solidFill>
                  </a:tcPr>
                </a:tc>
              </a:tr>
              <a:tr h="640080">
                <a:tc>
                  <a:txBody>
                    <a:bodyPr/>
                    <a:lstStyle/>
                    <a:p>
                      <a:pPr indent="0" marL="0">
                        <a:buNone/>
                      </a:pPr>
                      <a:r>
                        <a:rPr lang="en-US" sz="1600" dirty="0">
                          <a:solidFill>
                            <a:srgbClr val="1D2521"/>
                          </a:solidFill>
                          <a:latin typeface="Inter" pitchFamily="34" charset="0"/>
                          <a:ea typeface="Inter" pitchFamily="34" charset="-122"/>
                          <a:cs typeface="Inter" pitchFamily="34" charset="-120"/>
                        </a:rPr>
                        <a:t>Browser stuck on 'Loading'</a:t>
                      </a:r>
                      <a:endParaRPr lang="en-US" sz="1600" dirty="0">
                        <a:latin typeface="Inter" charset="0"/>
                        <a:ea typeface="Inter" charset="0"/>
                        <a:cs typeface="Inter" charset="0"/>
                      </a:endParaRPr>
                    </a:p>
                  </a:txBody>
                  <a:tcPr marL="127000" marR="127000" marT="50800" marB="50800" anchor="ctr">
                    <a:lnL w="9525" cap="flat" cmpd="sng" algn="ctr">
                      <a:solidFill>
                        <a:srgbClr val="E2DCCD"/>
                      </a:solidFill>
                      <a:prstDash val="solid"/>
                      <a:round/>
                      <a:headEnd type="none" w="med" len="med"/>
                      <a:tailEnd type="none" w="med" len="med"/>
                    </a:lnL>
                    <a:lnR w="9525" cap="flat" cmpd="sng" algn="ctr">
                      <a:solidFill>
                        <a:srgbClr val="E2DCCD"/>
                      </a:solidFill>
                      <a:prstDash val="solid"/>
                      <a:round/>
                      <a:headEnd type="none" w="med" len="med"/>
                      <a:tailEnd type="none" w="med" len="med"/>
                    </a:lnR>
                    <a:lnT w="9525" cap="flat" cmpd="sng" algn="ctr">
                      <a:solidFill>
                        <a:srgbClr val="E2DCCD"/>
                      </a:solidFill>
                      <a:prstDash val="solid"/>
                      <a:round/>
                      <a:headEnd type="none" w="med" len="med"/>
                      <a:tailEnd type="none" w="med" len="med"/>
                    </a:lnT>
                    <a:lnB w="9525" cap="flat" cmpd="sng" algn="ctr">
                      <a:solidFill>
                        <a:srgbClr val="E2DCCD"/>
                      </a:solidFill>
                      <a:prstDash val="solid"/>
                      <a:round/>
                      <a:headEnd type="none" w="med" len="med"/>
                      <a:tailEnd type="none" w="med" len="med"/>
                    </a:lnB>
                    <a:solidFill>
                      <a:srgbClr val="FBF8F1"/>
                    </a:solidFill>
                  </a:tcPr>
                </a:tc>
                <a:tc>
                  <a:txBody>
                    <a:bodyPr/>
                    <a:lstStyle/>
                    <a:p>
                      <a:pPr indent="0" marL="0">
                        <a:buNone/>
                      </a:pPr>
                      <a:r>
                        <a:rPr lang="en-US" sz="1600" dirty="0">
                          <a:solidFill>
                            <a:srgbClr val="1D2521"/>
                          </a:solidFill>
                          <a:latin typeface="Inter" pitchFamily="34" charset="0"/>
                          <a:ea typeface="Inter" pitchFamily="34" charset="-122"/>
                          <a:cs typeface="Inter" pitchFamily="34" charset="-120"/>
                        </a:rPr>
                        <a:t>Leave experiments.py (matplotlib) out of the web build</a:t>
                      </a:r>
                      <a:endParaRPr lang="en-US" sz="1600" dirty="0">
                        <a:latin typeface="Inter" charset="0"/>
                        <a:ea typeface="Inter" charset="0"/>
                        <a:cs typeface="Inter" charset="0"/>
                      </a:endParaRPr>
                    </a:p>
                  </a:txBody>
                  <a:tcPr marL="127000" marR="127000" marT="50800" marB="50800" anchor="ctr">
                    <a:lnL w="9525" cap="flat" cmpd="sng" algn="ctr">
                      <a:solidFill>
                        <a:srgbClr val="E2DCCD"/>
                      </a:solidFill>
                      <a:prstDash val="solid"/>
                      <a:round/>
                      <a:headEnd type="none" w="med" len="med"/>
                      <a:tailEnd type="none" w="med" len="med"/>
                    </a:lnL>
                    <a:lnR w="9525" cap="flat" cmpd="sng" algn="ctr">
                      <a:solidFill>
                        <a:srgbClr val="E2DCCD"/>
                      </a:solidFill>
                      <a:prstDash val="solid"/>
                      <a:round/>
                      <a:headEnd type="none" w="med" len="med"/>
                      <a:tailEnd type="none" w="med" len="med"/>
                    </a:lnR>
                    <a:lnT w="9525" cap="flat" cmpd="sng" algn="ctr">
                      <a:solidFill>
                        <a:srgbClr val="E2DCCD"/>
                      </a:solidFill>
                      <a:prstDash val="solid"/>
                      <a:round/>
                      <a:headEnd type="none" w="med" len="med"/>
                      <a:tailEnd type="none" w="med" len="med"/>
                    </a:lnT>
                    <a:lnB w="9525" cap="flat" cmpd="sng" algn="ctr">
                      <a:solidFill>
                        <a:srgbClr val="E2DCCD"/>
                      </a:solidFill>
                      <a:prstDash val="solid"/>
                      <a:round/>
                      <a:headEnd type="none" w="med" len="med"/>
                      <a:tailEnd type="none" w="med" len="med"/>
                    </a:lnB>
                    <a:solidFill>
                      <a:srgbClr val="FBF8F1"/>
                    </a:solidFill>
                  </a:tcPr>
                </a:tc>
              </a:tr>
              <a:tr h="640080">
                <a:tc>
                  <a:txBody>
                    <a:bodyPr/>
                    <a:lstStyle/>
                    <a:p>
                      <a:pPr indent="0" marL="0">
                        <a:buNone/>
                      </a:pPr>
                      <a:r>
                        <a:rPr lang="en-US" sz="1600" dirty="0">
                          <a:solidFill>
                            <a:srgbClr val="1D2521"/>
                          </a:solidFill>
                          <a:latin typeface="Inter" pitchFamily="34" charset="0"/>
                          <a:ea typeface="Inter" pitchFamily="34" charset="-122"/>
                          <a:cs typeface="Inter" pitchFamily="34" charset="-120"/>
                        </a:rPr>
                        <a:t>No sound in the browser</a:t>
                      </a:r>
                      <a:endParaRPr lang="en-US" sz="1600" dirty="0">
                        <a:latin typeface="Inter" charset="0"/>
                        <a:ea typeface="Inter" charset="0"/>
                        <a:cs typeface="Inter" charset="0"/>
                      </a:endParaRPr>
                    </a:p>
                  </a:txBody>
                  <a:tcPr marL="127000" marR="127000" marT="50800" marB="50800" anchor="ctr">
                    <a:lnL w="9525" cap="flat" cmpd="sng" algn="ctr">
                      <a:solidFill>
                        <a:srgbClr val="E2DCCD"/>
                      </a:solidFill>
                      <a:prstDash val="solid"/>
                      <a:round/>
                      <a:headEnd type="none" w="med" len="med"/>
                      <a:tailEnd type="none" w="med" len="med"/>
                    </a:lnL>
                    <a:lnR w="9525" cap="flat" cmpd="sng" algn="ctr">
                      <a:solidFill>
                        <a:srgbClr val="E2DCCD"/>
                      </a:solidFill>
                      <a:prstDash val="solid"/>
                      <a:round/>
                      <a:headEnd type="none" w="med" len="med"/>
                      <a:tailEnd type="none" w="med" len="med"/>
                    </a:lnR>
                    <a:lnT w="9525" cap="flat" cmpd="sng" algn="ctr">
                      <a:solidFill>
                        <a:srgbClr val="E2DCCD"/>
                      </a:solidFill>
                      <a:prstDash val="solid"/>
                      <a:round/>
                      <a:headEnd type="none" w="med" len="med"/>
                      <a:tailEnd type="none" w="med" len="med"/>
                    </a:lnT>
                    <a:lnB w="9525" cap="flat" cmpd="sng" algn="ctr">
                      <a:solidFill>
                        <a:srgbClr val="E2DCCD"/>
                      </a:solidFill>
                      <a:prstDash val="solid"/>
                      <a:round/>
                      <a:headEnd type="none" w="med" len="med"/>
                      <a:tailEnd type="none" w="med" len="med"/>
                    </a:lnB>
                    <a:solidFill>
                      <a:srgbClr val="FBF8F1"/>
                    </a:solidFill>
                  </a:tcPr>
                </a:tc>
                <a:tc>
                  <a:txBody>
                    <a:bodyPr/>
                    <a:lstStyle/>
                    <a:p>
                      <a:pPr indent="0" marL="0">
                        <a:buNone/>
                      </a:pPr>
                      <a:r>
                        <a:rPr lang="en-US" sz="1600" dirty="0">
                          <a:solidFill>
                            <a:srgbClr val="1D2521"/>
                          </a:solidFill>
                          <a:latin typeface="Inter" pitchFamily="34" charset="0"/>
                          <a:ea typeface="Inter" pitchFamily="34" charset="-122"/>
                          <a:cs typeface="Inter" pitchFamily="34" charset="-120"/>
                        </a:rPr>
                        <a:t>Build sounds from raw samples in the mixer's own format</a:t>
                      </a:r>
                      <a:endParaRPr lang="en-US" sz="1600" dirty="0">
                        <a:latin typeface="Inter" charset="0"/>
                        <a:ea typeface="Inter" charset="0"/>
                        <a:cs typeface="Inter" charset="0"/>
                      </a:endParaRPr>
                    </a:p>
                  </a:txBody>
                  <a:tcPr marL="127000" marR="127000" marT="50800" marB="50800" anchor="ctr">
                    <a:lnL w="9525" cap="flat" cmpd="sng" algn="ctr">
                      <a:solidFill>
                        <a:srgbClr val="E2DCCD"/>
                      </a:solidFill>
                      <a:prstDash val="solid"/>
                      <a:round/>
                      <a:headEnd type="none" w="med" len="med"/>
                      <a:tailEnd type="none" w="med" len="med"/>
                    </a:lnL>
                    <a:lnR w="9525" cap="flat" cmpd="sng" algn="ctr">
                      <a:solidFill>
                        <a:srgbClr val="E2DCCD"/>
                      </a:solidFill>
                      <a:prstDash val="solid"/>
                      <a:round/>
                      <a:headEnd type="none" w="med" len="med"/>
                      <a:tailEnd type="none" w="med" len="med"/>
                    </a:lnR>
                    <a:lnT w="9525" cap="flat" cmpd="sng" algn="ctr">
                      <a:solidFill>
                        <a:srgbClr val="E2DCCD"/>
                      </a:solidFill>
                      <a:prstDash val="solid"/>
                      <a:round/>
                      <a:headEnd type="none" w="med" len="med"/>
                      <a:tailEnd type="none" w="med" len="med"/>
                    </a:lnT>
                    <a:lnB w="9525" cap="flat" cmpd="sng" algn="ctr">
                      <a:solidFill>
                        <a:srgbClr val="E2DCCD"/>
                      </a:solidFill>
                      <a:prstDash val="solid"/>
                      <a:round/>
                      <a:headEnd type="none" w="med" len="med"/>
                      <a:tailEnd type="none" w="med" len="med"/>
                    </a:lnB>
                    <a:solidFill>
                      <a:srgbClr val="FBF8F1"/>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4EFE4"/>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indent="0" marL="0">
              <a:buNone/>
            </a:pPr>
            <a:r>
              <a:rPr lang="en-US" sz="2800" b="1" dirty="0">
                <a:solidFill>
                  <a:srgbClr val="1D2521"/>
                </a:solidFill>
                <a:latin typeface="Space Grotesk" pitchFamily="34" charset="0"/>
                <a:ea typeface="Space Grotesk" pitchFamily="34" charset="-122"/>
                <a:cs typeface="Space Grotesk" pitchFamily="34" charset="-120"/>
              </a:rPr>
              <a:t>Conclusion and next steps</a:t>
            </a:r>
            <a:endParaRPr lang="en-US" sz="2800" dirty="0"/>
          </a:p>
        </p:txBody>
      </p:sp>
      <p:sp>
        <p:nvSpPr>
          <p:cNvPr id="3" name="Text 1"/>
          <p:cNvSpPr txBox="1"/>
          <p:nvPr/>
        </p:nvSpPr>
        <p:spPr>
          <a:xfrm>
            <a:off x="640080" y="6355080"/>
            <a:ext cx="7315200" cy="228600"/>
          </a:xfrm>
          <a:prstGeom prst="rect">
            <a:avLst/>
          </a:prstGeom>
          <a:noFill/>
          <a:ln/>
        </p:spPr>
        <p:txBody>
          <a:bodyPr wrap="square" lIns="0" tIns="0" rIns="0" bIns="0" rtlCol="0" anchor="ctr"/>
          <a:lstStyle/>
          <a:p>
            <a:pPr indent="0" marL="0">
              <a:buNone/>
            </a:pPr>
            <a:r>
              <a:rPr lang="en-US" sz="900" dirty="0">
                <a:solidFill>
                  <a:srgbClr val="5D6A64"/>
                </a:solidFill>
                <a:latin typeface="Inter" pitchFamily="34" charset="0"/>
                <a:ea typeface="Inter" pitchFamily="34" charset="-122"/>
                <a:cs typeface="Inter" pitchFamily="34" charset="-120"/>
              </a:rPr>
              <a:t>Krishna Mahajan (106wucww) · 5ENT1140 AI Principles</a:t>
            </a:r>
            <a:endParaRPr lang="en-US" sz="900" dirty="0"/>
          </a:p>
        </p:txBody>
      </p:sp>
      <p:sp>
        <p:nvSpPr>
          <p:cNvPr id="4" name="Text 2"/>
          <p:cNvSpPr txBox="1"/>
          <p:nvPr/>
        </p:nvSpPr>
        <p:spPr>
          <a:xfrm>
            <a:off x="10881360" y="6355080"/>
            <a:ext cx="640080" cy="228600"/>
          </a:xfrm>
          <a:prstGeom prst="rect">
            <a:avLst/>
          </a:prstGeom>
          <a:noFill/>
          <a:ln/>
        </p:spPr>
        <p:txBody>
          <a:bodyPr wrap="square" lIns="0" tIns="0" rIns="0" bIns="0" rtlCol="0" anchor="ctr"/>
          <a:lstStyle/>
          <a:p>
            <a:pPr algn="r" indent="0" marL="0">
              <a:buNone/>
            </a:pPr>
            <a:r>
              <a:rPr lang="en-US" sz="900" dirty="0">
                <a:solidFill>
                  <a:srgbClr val="5D6A64"/>
                </a:solidFill>
                <a:latin typeface="Inter" pitchFamily="34" charset="0"/>
                <a:ea typeface="Inter" pitchFamily="34" charset="-122"/>
                <a:cs typeface="Inter" pitchFamily="34" charset="-120"/>
              </a:rPr>
              <a:t>15</a:t>
            </a:r>
            <a:endParaRPr lang="en-US" sz="900" dirty="0"/>
          </a:p>
        </p:txBody>
      </p:sp>
      <p:sp>
        <p:nvSpPr>
          <p:cNvPr id="5" name="Shape 3"/>
          <p:cNvSpPr/>
          <p:nvPr/>
        </p:nvSpPr>
        <p:spPr>
          <a:xfrm>
            <a:off x="640080" y="1417320"/>
            <a:ext cx="5349240" cy="4206240"/>
          </a:xfrm>
          <a:prstGeom prst="rect">
            <a:avLst/>
          </a:prstGeom>
          <a:solidFill>
            <a:srgbClr val="FBF8F1"/>
          </a:solidFill>
          <a:ln w="9525">
            <a:solidFill>
              <a:srgbClr val="E2DCCD"/>
            </a:solidFill>
            <a:prstDash val="solid"/>
          </a:ln>
        </p:spPr>
      </p:sp>
      <p:sp>
        <p:nvSpPr>
          <p:cNvPr id="6" name="Text 4"/>
          <p:cNvSpPr txBox="1"/>
          <p:nvPr/>
        </p:nvSpPr>
        <p:spPr>
          <a:xfrm>
            <a:off x="1005840" y="1691640"/>
            <a:ext cx="4572000" cy="457200"/>
          </a:xfrm>
          <a:prstGeom prst="rect">
            <a:avLst/>
          </a:prstGeom>
          <a:noFill/>
          <a:ln/>
        </p:spPr>
        <p:txBody>
          <a:bodyPr wrap="square" lIns="0" tIns="0" rIns="0" bIns="0" rtlCol="0" anchor="ctr"/>
          <a:lstStyle/>
          <a:p>
            <a:pPr indent="0" marL="0">
              <a:buNone/>
            </a:pPr>
            <a:r>
              <a:rPr lang="en-US" sz="2000" b="1" dirty="0">
                <a:solidFill>
                  <a:srgbClr val="D9A13B"/>
                </a:solidFill>
                <a:latin typeface="Space Grotesk" pitchFamily="34" charset="0"/>
                <a:ea typeface="Space Grotesk" pitchFamily="34" charset="-122"/>
                <a:cs typeface="Space Grotesk" pitchFamily="34" charset="-120"/>
              </a:rPr>
              <a:t>Delivered</a:t>
            </a:r>
            <a:endParaRPr lang="en-US" sz="2000" dirty="0"/>
          </a:p>
        </p:txBody>
      </p:sp>
      <p:sp>
        <p:nvSpPr>
          <p:cNvPr id="7" name="Text 5"/>
          <p:cNvSpPr txBox="1"/>
          <p:nvPr/>
        </p:nvSpPr>
        <p:spPr>
          <a:xfrm>
            <a:off x="1005840" y="2286000"/>
            <a:ext cx="4663440" cy="3108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D2521"/>
                </a:solidFill>
                <a:latin typeface="Inter" pitchFamily="34" charset="0"/>
                <a:ea typeface="Inter" pitchFamily="34" charset="-122"/>
                <a:cs typeface="Inter" pitchFamily="34" charset="-120"/>
              </a:rPr>
              <a:t>Full-rules backgammon</a:t>
            </a:r>
            <a:endParaRPr lang="en-US" sz="1600" dirty="0"/>
          </a:p>
          <a:p>
            <a:pPr marL="342900" indent="-342900">
              <a:spcAft>
                <a:spcPts val="1000"/>
              </a:spcAft>
              <a:buSzPct val="100000"/>
              <a:buChar char="•"/>
            </a:pPr>
            <a:r>
              <a:rPr lang="en-US" sz="1600" dirty="0">
                <a:solidFill>
                  <a:srgbClr val="1D2521"/>
                </a:solidFill>
                <a:latin typeface="Inter" pitchFamily="34" charset="0"/>
                <a:ea typeface="Inter" pitchFamily="34" charset="-122"/>
                <a:cs typeface="Inter" pitchFamily="34" charset="-120"/>
              </a:rPr>
              <a:t>Three AI levels, Expectiminimax on Hard</a:t>
            </a:r>
            <a:endParaRPr lang="en-US" sz="1600" dirty="0"/>
          </a:p>
          <a:p>
            <a:pPr marL="342900" indent="-342900">
              <a:spcAft>
                <a:spcPts val="1000"/>
              </a:spcAft>
              <a:buSzPct val="100000"/>
              <a:buChar char="•"/>
            </a:pPr>
            <a:r>
              <a:rPr lang="en-US" sz="1600" dirty="0">
                <a:solidFill>
                  <a:srgbClr val="1D2521"/>
                </a:solidFill>
                <a:latin typeface="Inter" pitchFamily="34" charset="0"/>
                <a:ea typeface="Inter" pitchFamily="34" charset="-122"/>
                <a:cs typeface="Inter" pitchFamily="34" charset="-120"/>
              </a:rPr>
              <a:t>Hints, move grades and a win-chance bar</a:t>
            </a:r>
            <a:endParaRPr lang="en-US" sz="1600" dirty="0"/>
          </a:p>
          <a:p>
            <a:pPr marL="342900" indent="-342900">
              <a:spcAft>
                <a:spcPts val="1000"/>
              </a:spcAft>
              <a:buSzPct val="100000"/>
              <a:buChar char="•"/>
            </a:pPr>
            <a:r>
              <a:rPr lang="en-US" sz="1600" dirty="0">
                <a:solidFill>
                  <a:srgbClr val="1D2521"/>
                </a:solidFill>
                <a:latin typeface="Inter" pitchFamily="34" charset="0"/>
                <a:ea typeface="Inter" pitchFamily="34" charset="-122"/>
                <a:cs typeface="Inter" pitchFamily="34" charset="-120"/>
              </a:rPr>
              <a:t>Finds the expert opening for 5-3</a:t>
            </a:r>
            <a:endParaRPr lang="en-US" sz="1600" dirty="0"/>
          </a:p>
          <a:p>
            <a:pPr marL="342900" indent="-342900">
              <a:spcAft>
                <a:spcPts val="1000"/>
              </a:spcAft>
              <a:buSzPct val="100000"/>
              <a:buChar char="•"/>
            </a:pPr>
            <a:r>
              <a:rPr lang="en-US" sz="1600" dirty="0">
                <a:solidFill>
                  <a:srgbClr val="1D2521"/>
                </a:solidFill>
                <a:latin typeface="Inter" pitchFamily="34" charset="0"/>
                <a:ea typeface="Inter" pitchFamily="34" charset="-122"/>
                <a:cs typeface="Inter" pitchFamily="34" charset="-120"/>
              </a:rPr>
              <a:t>Playable online in any browser</a:t>
            </a:r>
            <a:endParaRPr lang="en-US" sz="1600" dirty="0"/>
          </a:p>
          <a:p>
            <a:pPr marL="342900" indent="-342900">
              <a:spcAft>
                <a:spcPts val="1000"/>
              </a:spcAft>
              <a:buSzPct val="100000"/>
              <a:buChar char="•"/>
            </a:pPr>
            <a:r>
              <a:rPr lang="en-US" sz="1600" dirty="0">
                <a:solidFill>
                  <a:srgbClr val="1D2521"/>
                </a:solidFill>
                <a:latin typeface="Inter" pitchFamily="34" charset="0"/>
                <a:ea typeface="Inter" pitchFamily="34" charset="-122"/>
                <a:cs typeface="Inter" pitchFamily="34" charset="-120"/>
              </a:rPr>
              <a:t>Measured with 500+ games</a:t>
            </a:r>
            <a:endParaRPr lang="en-US" sz="1600" dirty="0"/>
          </a:p>
        </p:txBody>
      </p:sp>
      <p:sp>
        <p:nvSpPr>
          <p:cNvPr id="8" name="Shape 6"/>
          <p:cNvSpPr/>
          <p:nvPr/>
        </p:nvSpPr>
        <p:spPr>
          <a:xfrm>
            <a:off x="6172200" y="1417320"/>
            <a:ext cx="5349240" cy="4206240"/>
          </a:xfrm>
          <a:prstGeom prst="rect">
            <a:avLst/>
          </a:prstGeom>
          <a:solidFill>
            <a:srgbClr val="FBF8F1"/>
          </a:solidFill>
          <a:ln w="9525">
            <a:solidFill>
              <a:srgbClr val="E2DCCD"/>
            </a:solidFill>
            <a:prstDash val="solid"/>
          </a:ln>
        </p:spPr>
      </p:sp>
      <p:sp>
        <p:nvSpPr>
          <p:cNvPr id="9" name="Text 7"/>
          <p:cNvSpPr txBox="1"/>
          <p:nvPr/>
        </p:nvSpPr>
        <p:spPr>
          <a:xfrm>
            <a:off x="6537960" y="1691640"/>
            <a:ext cx="4572000" cy="457200"/>
          </a:xfrm>
          <a:prstGeom prst="rect">
            <a:avLst/>
          </a:prstGeom>
          <a:noFill/>
          <a:ln/>
        </p:spPr>
        <p:txBody>
          <a:bodyPr wrap="square" lIns="0" tIns="0" rIns="0" bIns="0" rtlCol="0" anchor="ctr"/>
          <a:lstStyle/>
          <a:p>
            <a:pPr indent="0" marL="0">
              <a:buNone/>
            </a:pPr>
            <a:r>
              <a:rPr lang="en-US" sz="2000" b="1" dirty="0">
                <a:solidFill>
                  <a:srgbClr val="B5443D"/>
                </a:solidFill>
                <a:latin typeface="Space Grotesk" pitchFamily="34" charset="0"/>
                <a:ea typeface="Space Grotesk" pitchFamily="34" charset="-122"/>
                <a:cs typeface="Space Grotesk" pitchFamily="34" charset="-120"/>
              </a:rPr>
              <a:t>Next</a:t>
            </a:r>
            <a:endParaRPr lang="en-US" sz="2000" dirty="0"/>
          </a:p>
        </p:txBody>
      </p:sp>
      <p:sp>
        <p:nvSpPr>
          <p:cNvPr id="10" name="Text 8"/>
          <p:cNvSpPr txBox="1"/>
          <p:nvPr/>
        </p:nvSpPr>
        <p:spPr>
          <a:xfrm>
            <a:off x="6537960" y="2286000"/>
            <a:ext cx="4663440" cy="3108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D2521"/>
                </a:solidFill>
                <a:latin typeface="Inter" pitchFamily="34" charset="0"/>
                <a:ea typeface="Inter" pitchFamily="34" charset="-122"/>
                <a:cs typeface="Inter" pitchFamily="34" charset="-120"/>
              </a:rPr>
              <a:t>Learn weights by self-play (TD-Gammon)</a:t>
            </a:r>
            <a:endParaRPr lang="en-US" sz="1600" dirty="0"/>
          </a:p>
          <a:p>
            <a:pPr marL="342900" indent="-342900">
              <a:spcAft>
                <a:spcPts val="1000"/>
              </a:spcAft>
              <a:buSzPct val="100000"/>
              <a:buChar char="•"/>
            </a:pPr>
            <a:r>
              <a:rPr lang="en-US" sz="1600" dirty="0">
                <a:solidFill>
                  <a:srgbClr val="1D2521"/>
                </a:solidFill>
                <a:latin typeface="Inter" pitchFamily="34" charset="0"/>
                <a:ea typeface="Inter" pitchFamily="34" charset="-122"/>
                <a:cs typeface="Inter" pitchFamily="34" charset="-120"/>
              </a:rPr>
              <a:t>Pruning for chance nodes (*-minimax)</a:t>
            </a:r>
            <a:endParaRPr lang="en-US" sz="1600" dirty="0"/>
          </a:p>
          <a:p>
            <a:pPr marL="342900" indent="-342900">
              <a:spcAft>
                <a:spcPts val="1000"/>
              </a:spcAft>
              <a:buSzPct val="100000"/>
              <a:buChar char="•"/>
            </a:pPr>
            <a:r>
              <a:rPr lang="en-US" sz="1600" dirty="0">
                <a:solidFill>
                  <a:srgbClr val="1D2521"/>
                </a:solidFill>
                <a:latin typeface="Inter" pitchFamily="34" charset="0"/>
                <a:ea typeface="Inter" pitchFamily="34" charset="-122"/>
                <a:cs typeface="Inter" pitchFamily="34" charset="-120"/>
              </a:rPr>
              <a:t>Deeper search, doubling cube</a:t>
            </a:r>
            <a:endParaRPr lang="en-US" sz="1600" dirty="0"/>
          </a:p>
          <a:p>
            <a:pPr marL="342900" indent="-342900">
              <a:spcAft>
                <a:spcPts val="1000"/>
              </a:spcAft>
              <a:buSzPct val="100000"/>
              <a:buChar char="•"/>
            </a:pPr>
            <a:r>
              <a:rPr lang="en-US" sz="1600" dirty="0">
                <a:solidFill>
                  <a:srgbClr val="1D2521"/>
                </a:solidFill>
                <a:latin typeface="Inter" pitchFamily="34" charset="0"/>
                <a:ea typeface="Inter" pitchFamily="34" charset="-122"/>
                <a:cs typeface="Inter" pitchFamily="34" charset="-120"/>
              </a:rPr>
              <a:t>Mobile-friendly layout</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16302A"/>
        </a:solidFill>
      </p:bgPr>
    </p:bg>
    <p:spTree>
      <p:nvGrpSpPr>
        <p:cNvPr id="1" name=""/>
        <p:cNvGrpSpPr/>
        <p:nvPr/>
      </p:nvGrpSpPr>
      <p:grpSpPr>
        <a:xfrm>
          <a:off x="0" y="0"/>
          <a:ext cx="0" cy="0"/>
          <a:chOff x="0" y="0"/>
          <a:chExt cx="0" cy="0"/>
        </a:xfrm>
      </p:grpSpPr>
      <p:sp>
        <p:nvSpPr>
          <p:cNvPr id="2" name="Text 0"/>
          <p:cNvSpPr txBox="1"/>
          <p:nvPr/>
        </p:nvSpPr>
        <p:spPr>
          <a:xfrm>
            <a:off x="640080" y="2377440"/>
            <a:ext cx="9144000" cy="914400"/>
          </a:xfrm>
          <a:prstGeom prst="rect">
            <a:avLst/>
          </a:prstGeom>
          <a:noFill/>
          <a:ln/>
        </p:spPr>
        <p:txBody>
          <a:bodyPr wrap="square" lIns="0" tIns="0" rIns="0" bIns="0" rtlCol="0" anchor="ctr"/>
          <a:lstStyle/>
          <a:p>
            <a:pPr indent="0" marL="0">
              <a:buNone/>
            </a:pPr>
            <a:r>
              <a:rPr lang="en-US" sz="4800" b="1" dirty="0">
                <a:solidFill>
                  <a:srgbClr val="F4EFE4"/>
                </a:solidFill>
                <a:latin typeface="Space Grotesk" pitchFamily="34" charset="0"/>
                <a:ea typeface="Space Grotesk" pitchFamily="34" charset="-122"/>
                <a:cs typeface="Space Grotesk" pitchFamily="34" charset="-120"/>
              </a:rPr>
              <a:t>Questions?</a:t>
            </a:r>
            <a:endParaRPr lang="en-US" sz="4800" dirty="0"/>
          </a:p>
        </p:txBody>
      </p:sp>
      <p:sp>
        <p:nvSpPr>
          <p:cNvPr id="3" name="Text 1">
            <a:hlinkClick r:id="rId1" tooltip=""/>
          </p:cNvPr>
          <p:cNvSpPr txBox="1"/>
          <p:nvPr/>
        </p:nvSpPr>
        <p:spPr>
          <a:xfrm>
            <a:off x="640080" y="3383280"/>
            <a:ext cx="9144000" cy="411480"/>
          </a:xfrm>
          <a:prstGeom prst="rect">
            <a:avLst/>
          </a:prstGeom>
          <a:noFill/>
          <a:ln/>
        </p:spPr>
        <p:txBody>
          <a:bodyPr wrap="square" lIns="0" tIns="0" rIns="0" bIns="0" rtlCol="0" anchor="ctr"/>
          <a:lstStyle/>
          <a:p>
            <a:pPr indent="0" marL="0">
              <a:buNone/>
            </a:pPr>
            <a:r>
              <a:rPr lang="en-US" sz="1800" u="sng" dirty="0">
                <a:solidFill>
                  <a:srgbClr val="D9A13B"/>
                </a:solidFill>
                <a:latin typeface="Inter" pitchFamily="34" charset="0"/>
                <a:ea typeface="Inter" pitchFamily="34" charset="-122"/>
                <a:cs typeface="Inter" pitchFamily="34" charset="-120"/>
                <a:hlinkClick r:id="rId1" invalidUrl="" action="" tgtFrame="" tooltip="" history="1" highlightClick="0" endSnd="0">
                  <a:extLst>
                    <a:ext uri="{A12FA001-AC4F-418D-AE19-62706E023703}">
                      <ahyp:hlinkClr xmlns:ahyp="http://schemas.microsoft.com/office/drawing/2018/hyperlinkcolor" val="tx"/>
                    </a:ext>
                  </a:extLst>
                </a:hlinkClick>
              </a:rPr>
              <a:t>kris072008.itch.io/backgammon-ai</a:t>
            </a:r>
            <a:endParaRPr lang="en-US" sz="1800" dirty="0"/>
          </a:p>
        </p:txBody>
      </p:sp>
      <p:sp>
        <p:nvSpPr>
          <p:cNvPr id="4" name="Text 2"/>
          <p:cNvSpPr txBox="1"/>
          <p:nvPr/>
        </p:nvSpPr>
        <p:spPr>
          <a:xfrm>
            <a:off x="640080" y="3931920"/>
            <a:ext cx="9144000" cy="365760"/>
          </a:xfrm>
          <a:prstGeom prst="rect">
            <a:avLst/>
          </a:prstGeom>
          <a:noFill/>
          <a:ln/>
        </p:spPr>
        <p:txBody>
          <a:bodyPr wrap="square" lIns="0" tIns="0" rIns="0" bIns="0" rtlCol="0" anchor="ctr"/>
          <a:lstStyle/>
          <a:p>
            <a:pPr indent="0" marL="0">
              <a:buNone/>
            </a:pPr>
            <a:r>
              <a:rPr lang="en-US" sz="1400" dirty="0">
                <a:solidFill>
                  <a:srgbClr val="DFE7E2"/>
                </a:solidFill>
                <a:latin typeface="Inter" pitchFamily="34" charset="0"/>
                <a:ea typeface="Inter" pitchFamily="34" charset="-122"/>
                <a:cs typeface="Inter" pitchFamily="34" charset="-120"/>
              </a:rPr>
              <a:t>Krishna Mahajan · 106wucww</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Backgammon AI</dc:title>
  <dc:subject>PptxGenJS Presentation</dc:subject>
  <dc:creator>Krishna Mahajan</dc:creator>
  <cp:lastModifiedBy>Krishna Mahajan</cp:lastModifiedBy>
  <cp:revision>1</cp:revision>
  <dcterms:created xsi:type="dcterms:W3CDTF">2026-09-27T18:36:10Z</dcterms:created>
  <dcterms:modified xsi:type="dcterms:W3CDTF">2026-09-27T18:36:10Z</dcterms:modified>
</cp:coreProperties>
</file>